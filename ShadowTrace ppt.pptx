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66" r:id="rId4"/>
    <p:sldId id="259" r:id="rId5"/>
    <p:sldId id="268" r:id="rId6"/>
    <p:sldId id="267" r:id="rId7"/>
    <p:sldId id="269" r:id="rId8"/>
  </p:sldIdLst>
  <p:sldSz cx="18288000" cy="10287000"/>
  <p:notesSz cx="6858000" cy="9144000"/>
  <p:embeddedFontLst>
    <p:embeddedFont>
      <p:font typeface="DM Sans" pitchFamily="2"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7" d="100"/>
          <a:sy n="37" d="100"/>
        </p:scale>
        <p:origin x="106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4466"/>
        </a:solidFill>
        <a:effectLst/>
      </p:bgPr>
    </p:bg>
    <p:spTree>
      <p:nvGrpSpPr>
        <p:cNvPr id="1" name=""/>
        <p:cNvGrpSpPr/>
        <p:nvPr/>
      </p:nvGrpSpPr>
      <p:grpSpPr>
        <a:xfrm>
          <a:off x="0" y="0"/>
          <a:ext cx="0" cy="0"/>
          <a:chOff x="0" y="0"/>
          <a:chExt cx="0" cy="0"/>
        </a:xfrm>
      </p:grpSpPr>
      <p:sp>
        <p:nvSpPr>
          <p:cNvPr id="2" name="TextBox 2"/>
          <p:cNvSpPr txBox="1"/>
          <p:nvPr/>
        </p:nvSpPr>
        <p:spPr>
          <a:xfrm>
            <a:off x="533400" y="2171700"/>
            <a:ext cx="16954500" cy="3378199"/>
          </a:xfrm>
          <a:prstGeom prst="rect">
            <a:avLst/>
          </a:prstGeom>
        </p:spPr>
        <p:txBody>
          <a:bodyPr lIns="0" tIns="0" rIns="0" bIns="0" rtlCol="0" anchor="t">
            <a:spAutoFit/>
          </a:bodyPr>
          <a:lstStyle/>
          <a:p>
            <a:pPr marL="0" lvl="0" indent="0" algn="ctr">
              <a:lnSpc>
                <a:spcPts val="12999"/>
              </a:lnSpc>
            </a:pPr>
            <a:r>
              <a:rPr lang="en-US" sz="12999" spc="-389" dirty="0">
                <a:solidFill>
                  <a:srgbClr val="CCE7FF"/>
                </a:solidFill>
                <a:latin typeface="DM Sans"/>
                <a:ea typeface="DM Sans"/>
                <a:cs typeface="DM Sans"/>
                <a:sym typeface="DM Sans"/>
              </a:rPr>
              <a:t>Welcome to </a:t>
            </a:r>
          </a:p>
          <a:p>
            <a:pPr marL="0" lvl="0" indent="0" algn="ctr">
              <a:lnSpc>
                <a:spcPts val="12999"/>
              </a:lnSpc>
            </a:pPr>
            <a:r>
              <a:rPr lang="en-US" sz="12999" spc="-389" dirty="0">
                <a:solidFill>
                  <a:srgbClr val="CCE7FF"/>
                </a:solidFill>
                <a:latin typeface="DM Sans"/>
                <a:ea typeface="DM Sans"/>
                <a:cs typeface="DM Sans"/>
                <a:sym typeface="DM Sans"/>
              </a:rPr>
              <a:t>Shadow Trace</a:t>
            </a:r>
          </a:p>
        </p:txBody>
      </p:sp>
      <p:sp>
        <p:nvSpPr>
          <p:cNvPr id="3" name="TextBox 2">
            <a:extLst>
              <a:ext uri="{FF2B5EF4-FFF2-40B4-BE49-F238E27FC236}">
                <a16:creationId xmlns:a16="http://schemas.microsoft.com/office/drawing/2014/main" id="{4D7DBD5E-3377-3343-2742-2EC052FF49D5}"/>
              </a:ext>
            </a:extLst>
          </p:cNvPr>
          <p:cNvSpPr txBox="1"/>
          <p:nvPr/>
        </p:nvSpPr>
        <p:spPr>
          <a:xfrm>
            <a:off x="533400" y="6836909"/>
            <a:ext cx="16954500" cy="1411540"/>
          </a:xfrm>
          <a:prstGeom prst="rect">
            <a:avLst/>
          </a:prstGeom>
        </p:spPr>
        <p:txBody>
          <a:bodyPr lIns="0" tIns="0" rIns="0" bIns="0" rtlCol="0" anchor="t">
            <a:spAutoFit/>
          </a:bodyPr>
          <a:lstStyle/>
          <a:p>
            <a:pPr marL="0" lvl="0" indent="0" algn="ctr">
              <a:lnSpc>
                <a:spcPts val="12999"/>
              </a:lnSpc>
            </a:pPr>
            <a:r>
              <a:rPr lang="en-US" sz="4400" spc="-389" dirty="0">
                <a:solidFill>
                  <a:srgbClr val="CCE7FF"/>
                </a:solidFill>
                <a:latin typeface="DM Sans"/>
                <a:ea typeface="DM Sans"/>
                <a:cs typeface="DM Sans"/>
                <a:sym typeface="DM Sans"/>
              </a:rPr>
              <a:t>AI-Powered Digital Footprint Tracker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244"/>
        </a:solidFill>
        <a:effectLst/>
      </p:bgPr>
    </p:bg>
    <p:spTree>
      <p:nvGrpSpPr>
        <p:cNvPr id="1" name=""/>
        <p:cNvGrpSpPr/>
        <p:nvPr/>
      </p:nvGrpSpPr>
      <p:grpSpPr>
        <a:xfrm>
          <a:off x="0" y="0"/>
          <a:ext cx="0" cy="0"/>
          <a:chOff x="0" y="0"/>
          <a:chExt cx="0" cy="0"/>
        </a:xfrm>
      </p:grpSpPr>
      <p:sp>
        <p:nvSpPr>
          <p:cNvPr id="4" name="TextBox 4"/>
          <p:cNvSpPr txBox="1"/>
          <p:nvPr/>
        </p:nvSpPr>
        <p:spPr>
          <a:xfrm>
            <a:off x="5460249" y="3070920"/>
            <a:ext cx="15970139" cy="9806347"/>
          </a:xfrm>
          <a:prstGeom prst="rect">
            <a:avLst/>
          </a:prstGeom>
        </p:spPr>
        <p:txBody>
          <a:bodyPr lIns="50800" tIns="50800" rIns="50800" bIns="50800" rtlCol="0" anchor="ctr"/>
          <a:lstStyle/>
          <a:p>
            <a:pPr algn="ctr">
              <a:lnSpc>
                <a:spcPts val="2500"/>
              </a:lnSpc>
            </a:pPr>
            <a:endParaRPr/>
          </a:p>
        </p:txBody>
      </p:sp>
      <p:sp>
        <p:nvSpPr>
          <p:cNvPr id="13" name="TextBox 13"/>
          <p:cNvSpPr txBox="1"/>
          <p:nvPr/>
        </p:nvSpPr>
        <p:spPr>
          <a:xfrm>
            <a:off x="626275" y="466839"/>
            <a:ext cx="10995650" cy="1209675"/>
          </a:xfrm>
          <a:prstGeom prst="rect">
            <a:avLst/>
          </a:prstGeom>
        </p:spPr>
        <p:txBody>
          <a:bodyPr lIns="0" tIns="0" rIns="0" bIns="0" rtlCol="0" anchor="t">
            <a:spAutoFit/>
          </a:bodyPr>
          <a:lstStyle/>
          <a:p>
            <a:pPr marL="0" lvl="0" indent="0" algn="l">
              <a:lnSpc>
                <a:spcPts val="9000"/>
              </a:lnSpc>
            </a:pPr>
            <a:r>
              <a:rPr lang="en-US" sz="9000" spc="-270" dirty="0">
                <a:solidFill>
                  <a:schemeClr val="bg1">
                    <a:lumMod val="95000"/>
                  </a:schemeClr>
                </a:solidFill>
                <a:latin typeface="DM Sans"/>
                <a:ea typeface="DM Sans"/>
                <a:cs typeface="DM Sans"/>
                <a:sym typeface="DM Sans"/>
              </a:rPr>
              <a:t>Introduction</a:t>
            </a:r>
          </a:p>
        </p:txBody>
      </p:sp>
      <p:sp>
        <p:nvSpPr>
          <p:cNvPr id="23" name="TextBox 13">
            <a:extLst>
              <a:ext uri="{FF2B5EF4-FFF2-40B4-BE49-F238E27FC236}">
                <a16:creationId xmlns:a16="http://schemas.microsoft.com/office/drawing/2014/main" id="{E669A26D-EC4B-3FB6-FB6C-3124D20F2BAA}"/>
              </a:ext>
            </a:extLst>
          </p:cNvPr>
          <p:cNvSpPr txBox="1"/>
          <p:nvPr/>
        </p:nvSpPr>
        <p:spPr>
          <a:xfrm>
            <a:off x="626275" y="2247900"/>
            <a:ext cx="17509325" cy="7438831"/>
          </a:xfrm>
          <a:prstGeom prst="rect">
            <a:avLst/>
          </a:prstGeom>
        </p:spPr>
        <p:txBody>
          <a:bodyPr wrap="square" lIns="0" tIns="0" rIns="0" bIns="0" rtlCol="0" anchor="t">
            <a:spAutoFit/>
          </a:bodyPr>
          <a:lstStyle/>
          <a:p>
            <a:pPr marL="457200" indent="-457200">
              <a:buFont typeface="Courier New" panose="02070309020205020404" pitchFamily="49" charset="0"/>
              <a:buChar char="o"/>
            </a:pPr>
            <a:r>
              <a:rPr lang="en-IN" sz="2900" dirty="0">
                <a:solidFill>
                  <a:srgbClr val="00B0F0"/>
                </a:solidFill>
                <a:latin typeface="DM Sans" pitchFamily="2" charset="0"/>
              </a:rPr>
              <a:t>The expansion of digital platforms has significantly increased the public visibility of personal data. Users contribute to open-source repositories, participate in forums, and share content across social media and other public services. As a result, identifiers such as email addresses, usernames, phone numbers, and organizational affiliations often become accessible through open search and other publicly available sources.</a:t>
            </a:r>
          </a:p>
          <a:p>
            <a:pPr marL="457200" indent="-457200">
              <a:buFont typeface="Courier New" panose="02070309020205020404" pitchFamily="49" charset="0"/>
              <a:buChar char="o"/>
            </a:pPr>
            <a:endParaRPr lang="en-IN" sz="2900" dirty="0">
              <a:solidFill>
                <a:srgbClr val="00B0F0"/>
              </a:solidFill>
              <a:latin typeface="DM Sans" pitchFamily="2" charset="0"/>
            </a:endParaRPr>
          </a:p>
          <a:p>
            <a:pPr marL="457200" indent="-457200">
              <a:buFont typeface="Courier New" panose="02070309020205020404" pitchFamily="49" charset="0"/>
              <a:buChar char="o"/>
            </a:pPr>
            <a:r>
              <a:rPr lang="en-IN" sz="2900" dirty="0">
                <a:solidFill>
                  <a:srgbClr val="00B0F0"/>
                </a:solidFill>
                <a:latin typeface="DM Sans" pitchFamily="2" charset="0"/>
              </a:rPr>
              <a:t>While individual data points may appear insignificant, the reuse of identifiers across platforms enables cross-platform linkage. When aggregated, these fragments can form a structured digital identity profile without the individual’s explicit awareness.</a:t>
            </a:r>
          </a:p>
          <a:p>
            <a:pPr marL="457200" indent="-457200">
              <a:buFont typeface="Courier New" panose="02070309020205020404" pitchFamily="49" charset="0"/>
              <a:buChar char="o"/>
            </a:pPr>
            <a:endParaRPr lang="en-IN" sz="2900" dirty="0">
              <a:solidFill>
                <a:srgbClr val="00B0F0"/>
              </a:solidFill>
              <a:latin typeface="DM Sans" pitchFamily="2" charset="0"/>
            </a:endParaRPr>
          </a:p>
          <a:p>
            <a:pPr marL="457200" indent="-457200">
              <a:buFont typeface="Courier New" panose="02070309020205020404" pitchFamily="49" charset="0"/>
              <a:buChar char="o"/>
            </a:pPr>
            <a:r>
              <a:rPr lang="en-IN" sz="2900" dirty="0">
                <a:solidFill>
                  <a:srgbClr val="00B0F0"/>
                </a:solidFill>
                <a:latin typeface="DM Sans" pitchFamily="2" charset="0"/>
              </a:rPr>
              <a:t>Despite this growing exposure, there is no widely accessible system that allows users to evaluate how their publicly available data connects across platforms and contributes to measurable privacy risk, particularly in the context of evolving regulatory frameworks such as GDPR and India’s Digital Personal Data Protection Act, 2023 (DPDP Act) and its associated Rules.</a:t>
            </a:r>
          </a:p>
          <a:p>
            <a:pPr marL="457200" lvl="0" indent="-457200" algn="l">
              <a:lnSpc>
                <a:spcPts val="9000"/>
              </a:lnSpc>
              <a:buFont typeface="Courier New" panose="02070309020205020404" pitchFamily="49" charset="0"/>
              <a:buChar char="o"/>
            </a:pPr>
            <a:endParaRPr lang="en-US" sz="2900" spc="-270" dirty="0">
              <a:solidFill>
                <a:srgbClr val="00B0F0"/>
              </a:solidFill>
              <a:latin typeface="DM Sans" pitchFamily="2" charset="0"/>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EB680313-4E67-0306-FAB2-5F3C32E850DE}"/>
            </a:ext>
          </a:extLst>
        </p:cNvPr>
        <p:cNvGrpSpPr/>
        <p:nvPr/>
      </p:nvGrpSpPr>
      <p:grpSpPr>
        <a:xfrm>
          <a:off x="0" y="0"/>
          <a:ext cx="0" cy="0"/>
          <a:chOff x="0" y="0"/>
          <a:chExt cx="0" cy="0"/>
        </a:xfrm>
      </p:grpSpPr>
      <p:sp>
        <p:nvSpPr>
          <p:cNvPr id="9" name="Rectangle: Diagonal Corners Rounded 8">
            <a:extLst>
              <a:ext uri="{FF2B5EF4-FFF2-40B4-BE49-F238E27FC236}">
                <a16:creationId xmlns:a16="http://schemas.microsoft.com/office/drawing/2014/main" id="{CF026D4F-CA9A-F964-3AF6-EA9C3C6A7382}"/>
              </a:ext>
            </a:extLst>
          </p:cNvPr>
          <p:cNvSpPr/>
          <p:nvPr/>
        </p:nvSpPr>
        <p:spPr>
          <a:xfrm>
            <a:off x="120679" y="4283532"/>
            <a:ext cx="5981034" cy="2852854"/>
          </a:xfrm>
          <a:prstGeom prst="round2Diag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D9AFDBA1-30E9-2C73-8832-743ABD2E1401}"/>
              </a:ext>
            </a:extLst>
          </p:cNvPr>
          <p:cNvSpPr/>
          <p:nvPr/>
        </p:nvSpPr>
        <p:spPr>
          <a:xfrm rot="1793906">
            <a:off x="-4663325" y="-5912717"/>
            <a:ext cx="7917237" cy="11049000"/>
          </a:xfrm>
          <a:prstGeom prst="parallelogram">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Parallelogram 1">
            <a:extLst>
              <a:ext uri="{FF2B5EF4-FFF2-40B4-BE49-F238E27FC236}">
                <a16:creationId xmlns:a16="http://schemas.microsoft.com/office/drawing/2014/main" id="{A8A91848-7150-A881-19E3-EF0C22CE5350}"/>
              </a:ext>
            </a:extLst>
          </p:cNvPr>
          <p:cNvSpPr/>
          <p:nvPr/>
        </p:nvSpPr>
        <p:spPr>
          <a:xfrm rot="1793906">
            <a:off x="16589948" y="2607418"/>
            <a:ext cx="7917237" cy="11049000"/>
          </a:xfrm>
          <a:prstGeom prst="parallelogram">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4">
            <a:extLst>
              <a:ext uri="{FF2B5EF4-FFF2-40B4-BE49-F238E27FC236}">
                <a16:creationId xmlns:a16="http://schemas.microsoft.com/office/drawing/2014/main" id="{BB36DCD5-8631-27A1-6271-6A8707643F1B}"/>
              </a:ext>
            </a:extLst>
          </p:cNvPr>
          <p:cNvSpPr txBox="1"/>
          <p:nvPr/>
        </p:nvSpPr>
        <p:spPr>
          <a:xfrm>
            <a:off x="5460249" y="3070920"/>
            <a:ext cx="15970139" cy="9806347"/>
          </a:xfrm>
          <a:prstGeom prst="rect">
            <a:avLst/>
          </a:prstGeom>
        </p:spPr>
        <p:txBody>
          <a:bodyPr lIns="50800" tIns="50800" rIns="50800" bIns="50800" rtlCol="0" anchor="ctr"/>
          <a:lstStyle/>
          <a:p>
            <a:pPr algn="ctr">
              <a:lnSpc>
                <a:spcPts val="2500"/>
              </a:lnSpc>
            </a:pPr>
            <a:endParaRPr/>
          </a:p>
        </p:txBody>
      </p:sp>
      <p:sp>
        <p:nvSpPr>
          <p:cNvPr id="13" name="TextBox 13">
            <a:extLst>
              <a:ext uri="{FF2B5EF4-FFF2-40B4-BE49-F238E27FC236}">
                <a16:creationId xmlns:a16="http://schemas.microsoft.com/office/drawing/2014/main" id="{903B8917-1DF4-6CC3-4431-1D1E0CC2CF0B}"/>
              </a:ext>
            </a:extLst>
          </p:cNvPr>
          <p:cNvSpPr txBox="1"/>
          <p:nvPr/>
        </p:nvSpPr>
        <p:spPr>
          <a:xfrm>
            <a:off x="11582400" y="210727"/>
            <a:ext cx="10995650" cy="1158715"/>
          </a:xfrm>
          <a:prstGeom prst="rect">
            <a:avLst/>
          </a:prstGeom>
        </p:spPr>
        <p:txBody>
          <a:bodyPr lIns="0" tIns="0" rIns="0" bIns="0" rtlCol="0" anchor="t">
            <a:spAutoFit/>
          </a:bodyPr>
          <a:lstStyle/>
          <a:p>
            <a:pPr marL="0" lvl="0" indent="0" algn="l">
              <a:lnSpc>
                <a:spcPts val="9000"/>
              </a:lnSpc>
            </a:pPr>
            <a:r>
              <a:rPr lang="en-US" sz="7600" spc="-270" dirty="0">
                <a:solidFill>
                  <a:schemeClr val="bg1">
                    <a:lumMod val="95000"/>
                  </a:schemeClr>
                </a:solidFill>
                <a:latin typeface="DM Sans"/>
                <a:ea typeface="DM Sans"/>
                <a:cs typeface="DM Sans"/>
                <a:sym typeface="DM Sans"/>
              </a:rPr>
              <a:t>Abstract</a:t>
            </a:r>
          </a:p>
        </p:txBody>
      </p:sp>
      <p:sp>
        <p:nvSpPr>
          <p:cNvPr id="23" name="TextBox 13">
            <a:extLst>
              <a:ext uri="{FF2B5EF4-FFF2-40B4-BE49-F238E27FC236}">
                <a16:creationId xmlns:a16="http://schemas.microsoft.com/office/drawing/2014/main" id="{BD8C3539-EAA7-81A1-1D21-4F6927D878C3}"/>
              </a:ext>
            </a:extLst>
          </p:cNvPr>
          <p:cNvSpPr txBox="1"/>
          <p:nvPr/>
        </p:nvSpPr>
        <p:spPr>
          <a:xfrm>
            <a:off x="1734412" y="1475449"/>
            <a:ext cx="15791588" cy="6155531"/>
          </a:xfrm>
          <a:prstGeom prst="rect">
            <a:avLst/>
          </a:prstGeom>
        </p:spPr>
        <p:txBody>
          <a:bodyPr wrap="square" lIns="0" tIns="0" rIns="0" bIns="0" rtlCol="0" anchor="t">
            <a:spAutoFit/>
          </a:bodyPr>
          <a:lstStyle/>
          <a:p>
            <a:r>
              <a:rPr lang="en-IN" sz="2500" dirty="0">
                <a:solidFill>
                  <a:srgbClr val="00B0F0"/>
                </a:solidFill>
                <a:latin typeface="DM Sans" pitchFamily="2" charset="0"/>
              </a:rPr>
              <a:t>Shadow Trace is an AI-powered Digital Footprint Tracker designed to help individuals and organizations   assess their publicly visible digital exposure.</a:t>
            </a: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a:p>
            <a:endParaRPr lang="en-IN" sz="2500" dirty="0">
              <a:solidFill>
                <a:srgbClr val="00B0F0"/>
              </a:solidFill>
              <a:latin typeface="DM Sans" pitchFamily="2" charset="0"/>
            </a:endParaRPr>
          </a:p>
        </p:txBody>
      </p:sp>
      <p:sp>
        <p:nvSpPr>
          <p:cNvPr id="3" name="TextBox 2">
            <a:extLst>
              <a:ext uri="{FF2B5EF4-FFF2-40B4-BE49-F238E27FC236}">
                <a16:creationId xmlns:a16="http://schemas.microsoft.com/office/drawing/2014/main" id="{05BF94FC-C66A-7A88-C6FB-839C8A3CF913}"/>
              </a:ext>
            </a:extLst>
          </p:cNvPr>
          <p:cNvSpPr txBox="1"/>
          <p:nvPr/>
        </p:nvSpPr>
        <p:spPr>
          <a:xfrm>
            <a:off x="2496412" y="2653758"/>
            <a:ext cx="15791588" cy="1246495"/>
          </a:xfrm>
          <a:prstGeom prst="rect">
            <a:avLst/>
          </a:prstGeom>
          <a:noFill/>
        </p:spPr>
        <p:txBody>
          <a:bodyPr wrap="square" rtlCol="0">
            <a:spAutoFit/>
          </a:bodyPr>
          <a:lstStyle/>
          <a:p>
            <a:r>
              <a:rPr lang="en-IN" sz="2500" dirty="0">
                <a:solidFill>
                  <a:srgbClr val="00B0F0"/>
                </a:solidFill>
                <a:latin typeface="DM Sans" pitchFamily="2" charset="0"/>
              </a:rPr>
              <a:t>The system aggregates publicly available OSINT data and applies Named Entity Recognition (NER) and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pattern-based extraction to identify personal identifiers such as email addresses, usernames, phone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numbers, geographic references, and organizational affiliations.</a:t>
            </a:r>
          </a:p>
        </p:txBody>
      </p:sp>
      <p:sp>
        <p:nvSpPr>
          <p:cNvPr id="6" name="TextBox 5">
            <a:extLst>
              <a:ext uri="{FF2B5EF4-FFF2-40B4-BE49-F238E27FC236}">
                <a16:creationId xmlns:a16="http://schemas.microsoft.com/office/drawing/2014/main" id="{6FDE4817-1ECD-C82F-CDA7-55C93A6B0C8E}"/>
              </a:ext>
            </a:extLst>
          </p:cNvPr>
          <p:cNvSpPr txBox="1"/>
          <p:nvPr/>
        </p:nvSpPr>
        <p:spPr>
          <a:xfrm>
            <a:off x="7050327" y="4553214"/>
            <a:ext cx="11237673" cy="2015936"/>
          </a:xfrm>
          <a:prstGeom prst="rect">
            <a:avLst/>
          </a:prstGeom>
          <a:noFill/>
        </p:spPr>
        <p:txBody>
          <a:bodyPr wrap="square" rtlCol="0">
            <a:spAutoFit/>
          </a:bodyPr>
          <a:lstStyle/>
          <a:p>
            <a:r>
              <a:rPr lang="en-IN" sz="2500" dirty="0">
                <a:solidFill>
                  <a:srgbClr val="00B0F0"/>
                </a:solidFill>
                <a:latin typeface="DM Sans" pitchFamily="2" charset="0"/>
              </a:rPr>
              <a:t>A graph-based correlation engine links related identifiers across platforms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to detect reuse patterns and exposure clusters. Extracted data is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classified into low, moderate, and critical severity levels and aggregated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into a structured Privacy Risk Score ranging from 0 to 100.</a:t>
            </a:r>
          </a:p>
          <a:p>
            <a:endParaRPr lang="en-IN" sz="2500" dirty="0"/>
          </a:p>
        </p:txBody>
      </p:sp>
      <p:sp>
        <p:nvSpPr>
          <p:cNvPr id="7" name="TextBox 6">
            <a:extLst>
              <a:ext uri="{FF2B5EF4-FFF2-40B4-BE49-F238E27FC236}">
                <a16:creationId xmlns:a16="http://schemas.microsoft.com/office/drawing/2014/main" id="{F381DC19-1296-F41D-143D-2F4350315661}"/>
              </a:ext>
            </a:extLst>
          </p:cNvPr>
          <p:cNvSpPr txBox="1"/>
          <p:nvPr/>
        </p:nvSpPr>
        <p:spPr>
          <a:xfrm>
            <a:off x="557740" y="4603054"/>
            <a:ext cx="5315915" cy="2400657"/>
          </a:xfrm>
          <a:prstGeom prst="rect">
            <a:avLst/>
          </a:prstGeom>
          <a:noFill/>
        </p:spPr>
        <p:txBody>
          <a:bodyPr wrap="square" rtlCol="0">
            <a:spAutoFit/>
          </a:bodyPr>
          <a:lstStyle/>
          <a:p>
            <a:r>
              <a:rPr lang="en-IN" sz="2500" dirty="0">
                <a:solidFill>
                  <a:schemeClr val="tx2">
                    <a:lumMod val="50000"/>
                  </a:schemeClr>
                </a:solidFill>
                <a:latin typeface="DM Sans" pitchFamily="2" charset="0"/>
              </a:rPr>
              <a:t>An interactive dashboard visualizes identity connections and exposure intensity through graph views and heatmaps, enabling structured interpretation.</a:t>
            </a:r>
          </a:p>
          <a:p>
            <a:endParaRPr lang="en-IN" sz="2500" dirty="0">
              <a:solidFill>
                <a:schemeClr val="tx2">
                  <a:lumMod val="50000"/>
                </a:schemeClr>
              </a:solidFill>
            </a:endParaRPr>
          </a:p>
        </p:txBody>
      </p:sp>
      <p:sp>
        <p:nvSpPr>
          <p:cNvPr id="8" name="TextBox 7">
            <a:extLst>
              <a:ext uri="{FF2B5EF4-FFF2-40B4-BE49-F238E27FC236}">
                <a16:creationId xmlns:a16="http://schemas.microsoft.com/office/drawing/2014/main" id="{EBA6CA17-4F1A-D96A-EA3F-A1322AE31E77}"/>
              </a:ext>
            </a:extLst>
          </p:cNvPr>
          <p:cNvSpPr txBox="1"/>
          <p:nvPr/>
        </p:nvSpPr>
        <p:spPr>
          <a:xfrm>
            <a:off x="519760" y="7478710"/>
            <a:ext cx="14491640" cy="2015936"/>
          </a:xfrm>
          <a:prstGeom prst="rect">
            <a:avLst/>
          </a:prstGeom>
          <a:noFill/>
        </p:spPr>
        <p:txBody>
          <a:bodyPr wrap="square" rtlCol="0">
            <a:spAutoFit/>
          </a:bodyPr>
          <a:lstStyle/>
          <a:p>
            <a:r>
              <a:rPr lang="en-IN" sz="2500" dirty="0">
                <a:solidFill>
                  <a:srgbClr val="00B0F0"/>
                </a:solidFill>
                <a:latin typeface="DM Sans" pitchFamily="2" charset="0"/>
              </a:rPr>
              <a:t>Shadow Trace functions strictly as a self-audit and privacy awareness tool. It operates only on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publicly accessible data and does not bypass authentication mechanisms or platform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restrictions. The system supports proactive privacy risk identification in alignment with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regulatory expectations under GDPR and the DPDP Act, 2023 and its Rules, including principles </a:t>
            </a:r>
            <a:r>
              <a:rPr lang="en-IN" sz="2500" dirty="0">
                <a:solidFill>
                  <a:schemeClr val="tx2">
                    <a:lumMod val="50000"/>
                  </a:schemeClr>
                </a:solidFill>
                <a:latin typeface="DM Sans" pitchFamily="2" charset="0"/>
              </a:rPr>
              <a:t>……..</a:t>
            </a:r>
            <a:r>
              <a:rPr lang="en-IN" sz="2500" dirty="0">
                <a:solidFill>
                  <a:srgbClr val="00B0F0"/>
                </a:solidFill>
                <a:latin typeface="DM Sans" pitchFamily="2" charset="0"/>
              </a:rPr>
              <a:t>of lawful processing, data minimization, and reasonable security safeguards.</a:t>
            </a:r>
            <a:endParaRPr lang="en-IN" sz="2500" dirty="0"/>
          </a:p>
        </p:txBody>
      </p:sp>
    </p:spTree>
    <p:extLst>
      <p:ext uri="{BB962C8B-B14F-4D97-AF65-F5344CB8AC3E}">
        <p14:creationId xmlns:p14="http://schemas.microsoft.com/office/powerpoint/2010/main" val="76498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466"/>
        </a:solidFill>
        <a:effectLst/>
      </p:bgPr>
    </p:bg>
    <p:spTree>
      <p:nvGrpSpPr>
        <p:cNvPr id="1" name=""/>
        <p:cNvGrpSpPr/>
        <p:nvPr/>
      </p:nvGrpSpPr>
      <p:grpSpPr>
        <a:xfrm>
          <a:off x="0" y="0"/>
          <a:ext cx="0" cy="0"/>
          <a:chOff x="0" y="0"/>
          <a:chExt cx="0" cy="0"/>
        </a:xfrm>
      </p:grpSpPr>
      <p:grpSp>
        <p:nvGrpSpPr>
          <p:cNvPr id="2" name="Group 2"/>
          <p:cNvGrpSpPr/>
          <p:nvPr/>
        </p:nvGrpSpPr>
        <p:grpSpPr>
          <a:xfrm>
            <a:off x="-2133600" y="368189"/>
            <a:ext cx="15849600" cy="1651111"/>
            <a:chOff x="0" y="0"/>
            <a:chExt cx="2534132" cy="1165450"/>
          </a:xfrm>
        </p:grpSpPr>
        <p:sp>
          <p:nvSpPr>
            <p:cNvPr id="3" name="Freeform 3">
              <a:extLst>
                <a:ext uri="{C183D7F6-B498-43B3-948B-1728B52AA6E4}">
                  <adec:decorative xmlns:adec="http://schemas.microsoft.com/office/drawing/2017/decorative" val="1"/>
                </a:ext>
              </a:extLst>
            </p:cNvPr>
            <p:cNvSpPr/>
            <p:nvPr/>
          </p:nvSpPr>
          <p:spPr>
            <a:xfrm>
              <a:off x="0" y="0"/>
              <a:ext cx="2534132" cy="1165450"/>
            </a:xfrm>
            <a:custGeom>
              <a:avLst/>
              <a:gdLst/>
              <a:ahLst/>
              <a:cxnLst/>
              <a:rect l="l" t="t" r="r" b="b"/>
              <a:pathLst>
                <a:path w="2534132" h="1165450">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002244"/>
            </a:solidFill>
          </p:spPr>
        </p:sp>
        <p:sp>
          <p:nvSpPr>
            <p:cNvPr id="4" name="TextBox 4"/>
            <p:cNvSpPr txBox="1"/>
            <p:nvPr/>
          </p:nvSpPr>
          <p:spPr>
            <a:xfrm>
              <a:off x="0" y="-38100"/>
              <a:ext cx="2534132" cy="1203550"/>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409290" y="520222"/>
            <a:ext cx="9772294" cy="1158715"/>
          </a:xfrm>
          <a:prstGeom prst="rect">
            <a:avLst/>
          </a:prstGeom>
        </p:spPr>
        <p:txBody>
          <a:bodyPr wrap="square" lIns="0" tIns="0" rIns="0" bIns="0" rtlCol="0" anchor="t">
            <a:spAutoFit/>
          </a:bodyPr>
          <a:lstStyle/>
          <a:p>
            <a:pPr marL="0" lvl="0" indent="0" algn="l">
              <a:lnSpc>
                <a:spcPts val="9000"/>
              </a:lnSpc>
            </a:pPr>
            <a:r>
              <a:rPr lang="en-US" sz="8000" spc="-270" dirty="0">
                <a:solidFill>
                  <a:srgbClr val="0099CC"/>
                </a:solidFill>
                <a:latin typeface="DM Sans"/>
                <a:ea typeface="DM Sans"/>
                <a:cs typeface="DM Sans"/>
                <a:sym typeface="DM Sans"/>
              </a:rPr>
              <a:t>Problem Statement</a:t>
            </a:r>
          </a:p>
        </p:txBody>
      </p:sp>
      <p:sp>
        <p:nvSpPr>
          <p:cNvPr id="14" name="TextBox 14"/>
          <p:cNvSpPr txBox="1"/>
          <p:nvPr/>
        </p:nvSpPr>
        <p:spPr>
          <a:xfrm>
            <a:off x="1447800" y="2234841"/>
            <a:ext cx="16584328" cy="7201972"/>
          </a:xfrm>
          <a:prstGeom prst="rect">
            <a:avLst/>
          </a:prstGeom>
        </p:spPr>
        <p:txBody>
          <a:bodyPr wrap="square" lIns="0" tIns="0" rIns="0" bIns="0" rtlCol="0" anchor="t">
            <a:spAutoFit/>
          </a:bodyPr>
          <a:lstStyle/>
          <a:p>
            <a:r>
              <a:rPr lang="en-IN" sz="2600" dirty="0">
                <a:solidFill>
                  <a:schemeClr val="bg1">
                    <a:lumMod val="95000"/>
                  </a:schemeClr>
                </a:solidFill>
                <a:latin typeface="DM Sans" pitchFamily="2" charset="0"/>
              </a:rPr>
              <a:t>Personal data is distributed across multiple public platforms, including GitHub repositories, online forums, social media networks, and other accessible sources. When identifiers such as email addresses or usernames are reused across services, they can be correlated to form a consolidated digital identity profile.</a:t>
            </a:r>
          </a:p>
          <a:p>
            <a:endParaRPr lang="en-IN" sz="2600" dirty="0">
              <a:solidFill>
                <a:schemeClr val="bg1">
                  <a:lumMod val="95000"/>
                </a:schemeClr>
              </a:solidFill>
              <a:latin typeface="DM Sans" pitchFamily="2" charset="0"/>
            </a:endParaRPr>
          </a:p>
          <a:p>
            <a:r>
              <a:rPr lang="en-IN" sz="2600" dirty="0">
                <a:solidFill>
                  <a:schemeClr val="bg1">
                    <a:lumMod val="95000"/>
                  </a:schemeClr>
                </a:solidFill>
                <a:latin typeface="DM Sans" pitchFamily="2" charset="0"/>
              </a:rPr>
              <a:t>This cross-platform linkage increases exposure risks, including identity misuse, targeted phishing, profiling, and potential regulatory concerns under data protection frameworks such as GDPR and India’s Digital Personal Data Protection Act, 2023 (DPDP Act) along with the DPDP Rules governing lawful processing, consent, accountability, and data minimization obligations.</a:t>
            </a:r>
          </a:p>
          <a:p>
            <a:endParaRPr lang="en-IN" sz="2600" dirty="0">
              <a:solidFill>
                <a:schemeClr val="bg1">
                  <a:lumMod val="95000"/>
                </a:schemeClr>
              </a:solidFill>
              <a:latin typeface="DM Sans" pitchFamily="2" charset="0"/>
            </a:endParaRPr>
          </a:p>
          <a:p>
            <a:r>
              <a:rPr lang="en-IN" sz="2600" dirty="0">
                <a:solidFill>
                  <a:schemeClr val="bg1">
                    <a:lumMod val="95000"/>
                  </a:schemeClr>
                </a:solidFill>
                <a:latin typeface="DM Sans" pitchFamily="2" charset="0"/>
              </a:rPr>
              <a:t>Unintentional public exposure of sensitive identifiers may create compliance risks where organizations are required to implement reasonable security safeguards and limit unnecessary disclosure.</a:t>
            </a:r>
          </a:p>
          <a:p>
            <a:endParaRPr lang="en-IN" sz="2600" dirty="0">
              <a:solidFill>
                <a:schemeClr val="bg1">
                  <a:lumMod val="95000"/>
                </a:schemeClr>
              </a:solidFill>
              <a:latin typeface="DM Sans" pitchFamily="2" charset="0"/>
            </a:endParaRPr>
          </a:p>
          <a:p>
            <a:r>
              <a:rPr lang="en-IN" sz="2600" dirty="0">
                <a:solidFill>
                  <a:schemeClr val="bg1">
                    <a:lumMod val="95000"/>
                  </a:schemeClr>
                </a:solidFill>
                <a:latin typeface="DM Sans" pitchFamily="2" charset="0"/>
              </a:rPr>
              <a:t>Existing tools such as </a:t>
            </a:r>
            <a:r>
              <a:rPr lang="en-IN" sz="2600" dirty="0" err="1">
                <a:solidFill>
                  <a:schemeClr val="bg1">
                    <a:lumMod val="95000"/>
                  </a:schemeClr>
                </a:solidFill>
                <a:latin typeface="DM Sans" pitchFamily="2" charset="0"/>
              </a:rPr>
              <a:t>Maltego</a:t>
            </a:r>
            <a:r>
              <a:rPr lang="en-IN" sz="2600" dirty="0">
                <a:solidFill>
                  <a:schemeClr val="bg1">
                    <a:lumMod val="95000"/>
                  </a:schemeClr>
                </a:solidFill>
                <a:latin typeface="DM Sans" pitchFamily="2" charset="0"/>
              </a:rPr>
              <a:t> and </a:t>
            </a:r>
            <a:r>
              <a:rPr lang="en-IN" sz="2600" dirty="0" err="1">
                <a:solidFill>
                  <a:schemeClr val="bg1">
                    <a:lumMod val="95000"/>
                  </a:schemeClr>
                </a:solidFill>
                <a:latin typeface="DM Sans" pitchFamily="2" charset="0"/>
              </a:rPr>
              <a:t>SpiderFoot</a:t>
            </a:r>
            <a:r>
              <a:rPr lang="en-IN" sz="2600" dirty="0">
                <a:solidFill>
                  <a:schemeClr val="bg1">
                    <a:lumMod val="95000"/>
                  </a:schemeClr>
                </a:solidFill>
                <a:latin typeface="DM Sans" pitchFamily="2" charset="0"/>
              </a:rPr>
              <a:t> are primarily designed for professional investigators and cybersecurity analysts. They often require technical expertise and do not emphasize structured, user-friendly self-assessment.</a:t>
            </a:r>
          </a:p>
          <a:p>
            <a:endParaRPr lang="en-IN" sz="2600" dirty="0">
              <a:solidFill>
                <a:schemeClr val="bg1">
                  <a:lumMod val="95000"/>
                </a:schemeClr>
              </a:solidFill>
              <a:latin typeface="DM Sans" pitchFamily="2" charset="0"/>
            </a:endParaRPr>
          </a:p>
          <a:p>
            <a:r>
              <a:rPr lang="en-IN" sz="2600" dirty="0">
                <a:solidFill>
                  <a:schemeClr val="bg1">
                    <a:lumMod val="95000"/>
                  </a:schemeClr>
                </a:solidFill>
                <a:latin typeface="DM Sans" pitchFamily="2" charset="0"/>
              </a:rPr>
              <a:t>There is a need for an accessible, automated solution that enables users and organizations to evaluate publicly visible identity exposure through structured correlation and measurable risk scoring.</a:t>
            </a:r>
          </a:p>
        </p:txBody>
      </p:sp>
      <p:grpSp>
        <p:nvGrpSpPr>
          <p:cNvPr id="16" name="Group 16"/>
          <p:cNvGrpSpPr/>
          <p:nvPr/>
        </p:nvGrpSpPr>
        <p:grpSpPr>
          <a:xfrm>
            <a:off x="8431758" y="5835827"/>
            <a:ext cx="3436392" cy="1742705"/>
            <a:chOff x="0" y="76200"/>
            <a:chExt cx="4581856" cy="2323607"/>
          </a:xfrm>
        </p:grpSpPr>
        <p:sp>
          <p:nvSpPr>
            <p:cNvPr id="17" name="TextBox 17"/>
            <p:cNvSpPr txBox="1"/>
            <p:nvPr/>
          </p:nvSpPr>
          <p:spPr>
            <a:xfrm>
              <a:off x="0" y="76200"/>
              <a:ext cx="4581856" cy="796885"/>
            </a:xfrm>
            <a:prstGeom prst="rect">
              <a:avLst/>
            </a:prstGeom>
          </p:spPr>
          <p:txBody>
            <a:bodyPr lIns="0" tIns="0" rIns="0" bIns="0" rtlCol="0" anchor="t">
              <a:spAutoFit/>
            </a:bodyPr>
            <a:lstStyle/>
            <a:p>
              <a:pPr marL="0" lvl="0" indent="0" algn="l">
                <a:lnSpc>
                  <a:spcPts val="4500"/>
                </a:lnSpc>
              </a:pPr>
              <a:endParaRPr lang="en-US" sz="4500" spc="-135" dirty="0">
                <a:solidFill>
                  <a:srgbClr val="CCE7FF"/>
                </a:solidFill>
                <a:latin typeface="DM Sans"/>
                <a:ea typeface="DM Sans"/>
                <a:cs typeface="DM Sans"/>
                <a:sym typeface="DM Sans"/>
              </a:endParaRPr>
            </a:p>
          </p:txBody>
        </p:sp>
        <p:sp>
          <p:nvSpPr>
            <p:cNvPr id="18" name="TextBox 18"/>
            <p:cNvSpPr txBox="1"/>
            <p:nvPr/>
          </p:nvSpPr>
          <p:spPr>
            <a:xfrm>
              <a:off x="0" y="1989438"/>
              <a:ext cx="4581856" cy="410369"/>
            </a:xfrm>
            <a:prstGeom prst="rect">
              <a:avLst/>
            </a:prstGeom>
          </p:spPr>
          <p:txBody>
            <a:bodyPr lIns="0" tIns="0" rIns="0" bIns="0" rtlCol="0" anchor="t">
              <a:spAutoFit/>
            </a:bodyPr>
            <a:lstStyle/>
            <a:p>
              <a:pPr marL="0" lvl="0" indent="0" algn="l">
                <a:lnSpc>
                  <a:spcPts val="2400"/>
                </a:lnSpc>
              </a:pPr>
              <a:endParaRPr lang="en-US" sz="2000" u="none" strike="noStrike" dirty="0">
                <a:solidFill>
                  <a:srgbClr val="CCE7FF"/>
                </a:solidFill>
                <a:latin typeface="DM Sans"/>
                <a:ea typeface="DM Sans"/>
                <a:cs typeface="DM Sans"/>
                <a:sym typeface="DM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466"/>
        </a:solidFill>
        <a:effectLst/>
      </p:bgPr>
    </p:bg>
    <p:spTree>
      <p:nvGrpSpPr>
        <p:cNvPr id="1" name="">
          <a:extLst>
            <a:ext uri="{FF2B5EF4-FFF2-40B4-BE49-F238E27FC236}">
              <a16:creationId xmlns:a16="http://schemas.microsoft.com/office/drawing/2014/main" id="{F57543A4-05CE-4243-124D-6459B727A68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7F4AA38-124D-8568-BDFA-65B2D9932A02}"/>
              </a:ext>
            </a:extLst>
          </p:cNvPr>
          <p:cNvGrpSpPr/>
          <p:nvPr/>
        </p:nvGrpSpPr>
        <p:grpSpPr>
          <a:xfrm>
            <a:off x="-2133600" y="368189"/>
            <a:ext cx="15849600" cy="1651111"/>
            <a:chOff x="0" y="0"/>
            <a:chExt cx="2534132" cy="1165450"/>
          </a:xfrm>
        </p:grpSpPr>
        <p:sp>
          <p:nvSpPr>
            <p:cNvPr id="3" name="Freeform 3">
              <a:extLst>
                <a:ext uri="{FF2B5EF4-FFF2-40B4-BE49-F238E27FC236}">
                  <a16:creationId xmlns:a16="http://schemas.microsoft.com/office/drawing/2014/main" id="{DB7CE38B-D8FD-D9D0-F22F-6112E48C625A}"/>
                </a:ext>
                <a:ext uri="{C183D7F6-B498-43B3-948B-1728B52AA6E4}">
                  <adec:decorative xmlns:adec="http://schemas.microsoft.com/office/drawing/2017/decorative" val="1"/>
                </a:ext>
              </a:extLst>
            </p:cNvPr>
            <p:cNvSpPr/>
            <p:nvPr/>
          </p:nvSpPr>
          <p:spPr>
            <a:xfrm>
              <a:off x="0" y="0"/>
              <a:ext cx="2534132" cy="1165450"/>
            </a:xfrm>
            <a:custGeom>
              <a:avLst/>
              <a:gdLst/>
              <a:ahLst/>
              <a:cxnLst/>
              <a:rect l="l" t="t" r="r" b="b"/>
              <a:pathLst>
                <a:path w="2534132" h="1165450">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002244"/>
            </a:solidFill>
          </p:spPr>
        </p:sp>
        <p:sp>
          <p:nvSpPr>
            <p:cNvPr id="4" name="TextBox 4">
              <a:extLst>
                <a:ext uri="{FF2B5EF4-FFF2-40B4-BE49-F238E27FC236}">
                  <a16:creationId xmlns:a16="http://schemas.microsoft.com/office/drawing/2014/main" id="{82AA4B2C-6024-A834-F474-D3B74F375651}"/>
                </a:ext>
              </a:extLst>
            </p:cNvPr>
            <p:cNvSpPr txBox="1"/>
            <p:nvPr/>
          </p:nvSpPr>
          <p:spPr>
            <a:xfrm>
              <a:off x="0" y="-38100"/>
              <a:ext cx="2534132" cy="12035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CB2EBC05-DAFB-F351-B7FB-91C0B25CDE43}"/>
              </a:ext>
            </a:extLst>
          </p:cNvPr>
          <p:cNvSpPr txBox="1"/>
          <p:nvPr/>
        </p:nvSpPr>
        <p:spPr>
          <a:xfrm>
            <a:off x="409290" y="662047"/>
            <a:ext cx="11458860" cy="1154162"/>
          </a:xfrm>
          <a:prstGeom prst="rect">
            <a:avLst/>
          </a:prstGeom>
        </p:spPr>
        <p:txBody>
          <a:bodyPr wrap="square" lIns="0" tIns="0" rIns="0" bIns="0" rtlCol="0" anchor="t">
            <a:spAutoFit/>
          </a:bodyPr>
          <a:lstStyle/>
          <a:p>
            <a:pPr lvl="0">
              <a:lnSpc>
                <a:spcPts val="9000"/>
              </a:lnSpc>
            </a:pPr>
            <a:r>
              <a:rPr lang="en-IN" sz="8000" dirty="0">
                <a:solidFill>
                  <a:schemeClr val="bg1">
                    <a:lumMod val="95000"/>
                  </a:schemeClr>
                </a:solidFill>
                <a:latin typeface="DM Sans" pitchFamily="2" charset="0"/>
              </a:rPr>
              <a:t>Existing Solutions &amp; Gap</a:t>
            </a:r>
            <a:endParaRPr lang="en-US" sz="8000" spc="-270" dirty="0">
              <a:solidFill>
                <a:schemeClr val="bg1">
                  <a:lumMod val="95000"/>
                </a:schemeClr>
              </a:solidFill>
              <a:latin typeface="DM Sans" pitchFamily="2" charset="0"/>
              <a:ea typeface="DM Sans"/>
              <a:cs typeface="DM Sans"/>
              <a:sym typeface="DM Sans"/>
            </a:endParaRPr>
          </a:p>
        </p:txBody>
      </p:sp>
      <p:sp>
        <p:nvSpPr>
          <p:cNvPr id="14" name="TextBox 14">
            <a:extLst>
              <a:ext uri="{FF2B5EF4-FFF2-40B4-BE49-F238E27FC236}">
                <a16:creationId xmlns:a16="http://schemas.microsoft.com/office/drawing/2014/main" id="{7C35DC59-E59E-771F-5AF7-F67EF348F1FC}"/>
              </a:ext>
            </a:extLst>
          </p:cNvPr>
          <p:cNvSpPr txBox="1"/>
          <p:nvPr/>
        </p:nvSpPr>
        <p:spPr>
          <a:xfrm>
            <a:off x="533400" y="2472619"/>
            <a:ext cx="16584328" cy="6032421"/>
          </a:xfrm>
          <a:prstGeom prst="rect">
            <a:avLst/>
          </a:prstGeom>
        </p:spPr>
        <p:txBody>
          <a:bodyPr wrap="square" lIns="0" tIns="0" rIns="0" bIns="0" rtlCol="0" anchor="t">
            <a:spAutoFit/>
          </a:bodyPr>
          <a:lstStyle/>
          <a:p>
            <a:r>
              <a:rPr lang="en-US" sz="2800" dirty="0">
                <a:solidFill>
                  <a:schemeClr val="bg1">
                    <a:lumMod val="95000"/>
                  </a:schemeClr>
                </a:solidFill>
                <a:latin typeface="DM Sans" pitchFamily="2" charset="0"/>
              </a:rPr>
              <a:t>While these tools can identify certain exposed elements, they operate in isolation. They typically provide raw outputs such as lists of breached emails or scraped links. However, they do not connect these fragments into a structured identity profile.</a:t>
            </a:r>
          </a:p>
          <a:p>
            <a:endParaRPr lang="en-US" sz="2800" dirty="0">
              <a:solidFill>
                <a:schemeClr val="bg1">
                  <a:lumMod val="95000"/>
                </a:schemeClr>
              </a:solidFill>
              <a:latin typeface="DM Sans" pitchFamily="2" charset="0"/>
            </a:endParaRPr>
          </a:p>
          <a:p>
            <a:r>
              <a:rPr lang="en-US" sz="2800" dirty="0">
                <a:solidFill>
                  <a:schemeClr val="bg1">
                    <a:lumMod val="95000"/>
                  </a:schemeClr>
                </a:solidFill>
                <a:latin typeface="DM Sans" pitchFamily="2" charset="0"/>
              </a:rPr>
              <a:t>Key limitations observed in current solutions:</a:t>
            </a:r>
          </a:p>
          <a:p>
            <a:endParaRPr lang="en-US" sz="2800" dirty="0">
              <a:solidFill>
                <a:schemeClr val="bg1">
                  <a:lumMod val="95000"/>
                </a:schemeClr>
              </a:solidFill>
              <a:latin typeface="DM Sans" pitchFamily="2" charset="0"/>
            </a:endParaRPr>
          </a:p>
          <a:p>
            <a:pPr marL="457200" indent="-457200">
              <a:buFont typeface="Wingdings" panose="05000000000000000000" pitchFamily="2" charset="2"/>
              <a:buChar char="q"/>
            </a:pPr>
            <a:r>
              <a:rPr lang="en-US" sz="2800" dirty="0">
                <a:solidFill>
                  <a:schemeClr val="bg1">
                    <a:lumMod val="95000"/>
                  </a:schemeClr>
                </a:solidFill>
                <a:latin typeface="DM Sans" pitchFamily="2" charset="0"/>
              </a:rPr>
              <a:t>No automated cross-platform identity linking</a:t>
            </a:r>
          </a:p>
          <a:p>
            <a:pPr marL="457200" indent="-457200">
              <a:buFont typeface="Wingdings" panose="05000000000000000000" pitchFamily="2" charset="2"/>
              <a:buChar char="q"/>
            </a:pPr>
            <a:r>
              <a:rPr lang="en-US" sz="2800" dirty="0">
                <a:solidFill>
                  <a:schemeClr val="bg1">
                    <a:lumMod val="95000"/>
                  </a:schemeClr>
                </a:solidFill>
                <a:latin typeface="DM Sans" pitchFamily="2" charset="0"/>
              </a:rPr>
              <a:t>No standardized privacy risk scoring model</a:t>
            </a:r>
          </a:p>
          <a:p>
            <a:pPr marL="457200" indent="-457200">
              <a:buFont typeface="Wingdings" panose="05000000000000000000" pitchFamily="2" charset="2"/>
              <a:buChar char="q"/>
            </a:pPr>
            <a:r>
              <a:rPr lang="en-US" sz="2800" dirty="0">
                <a:solidFill>
                  <a:schemeClr val="bg1">
                    <a:lumMod val="95000"/>
                  </a:schemeClr>
                </a:solidFill>
                <a:latin typeface="DM Sans" pitchFamily="2" charset="0"/>
              </a:rPr>
              <a:t>No visual graph representation of identity </a:t>
            </a:r>
          </a:p>
          <a:p>
            <a:pPr lvl="1"/>
            <a:r>
              <a:rPr lang="en-US" sz="2800" dirty="0">
                <a:solidFill>
                  <a:schemeClr val="bg1">
                    <a:lumMod val="95000"/>
                  </a:schemeClr>
                </a:solidFill>
                <a:latin typeface="DM Sans" pitchFamily="2" charset="0"/>
              </a:rPr>
              <a:t>relationships</a:t>
            </a:r>
          </a:p>
          <a:p>
            <a:pPr marL="457200" indent="-457200">
              <a:buFont typeface="Wingdings" panose="05000000000000000000" pitchFamily="2" charset="2"/>
              <a:buChar char="q"/>
            </a:pPr>
            <a:r>
              <a:rPr lang="en-US" sz="2800" dirty="0">
                <a:solidFill>
                  <a:schemeClr val="bg1">
                    <a:lumMod val="95000"/>
                  </a:schemeClr>
                </a:solidFill>
                <a:latin typeface="DM Sans" pitchFamily="2" charset="0"/>
              </a:rPr>
              <a:t>No prioritization based on sensitivity of </a:t>
            </a:r>
          </a:p>
          <a:p>
            <a:pPr lvl="1"/>
            <a:r>
              <a:rPr lang="en-US" sz="2800" dirty="0">
                <a:solidFill>
                  <a:schemeClr val="bg1">
                    <a:lumMod val="95000"/>
                  </a:schemeClr>
                </a:solidFill>
                <a:latin typeface="DM Sans" pitchFamily="2" charset="0"/>
              </a:rPr>
              <a:t>exposed data</a:t>
            </a:r>
          </a:p>
          <a:p>
            <a:pPr marL="457200" indent="-457200">
              <a:buFont typeface="Wingdings" panose="05000000000000000000" pitchFamily="2" charset="2"/>
              <a:buChar char="q"/>
            </a:pPr>
            <a:r>
              <a:rPr lang="en-US" sz="2800" dirty="0">
                <a:solidFill>
                  <a:schemeClr val="bg1">
                    <a:lumMod val="95000"/>
                  </a:schemeClr>
                </a:solidFill>
                <a:latin typeface="DM Sans" pitchFamily="2" charset="0"/>
              </a:rPr>
              <a:t>No integration with data protection </a:t>
            </a:r>
          </a:p>
          <a:p>
            <a:pPr lvl="1"/>
            <a:r>
              <a:rPr lang="en-US" sz="2800" dirty="0">
                <a:solidFill>
                  <a:schemeClr val="bg1">
                    <a:lumMod val="95000"/>
                  </a:schemeClr>
                </a:solidFill>
                <a:latin typeface="DM Sans" pitchFamily="2" charset="0"/>
              </a:rPr>
              <a:t>compliance frameworks</a:t>
            </a:r>
          </a:p>
        </p:txBody>
      </p:sp>
      <p:grpSp>
        <p:nvGrpSpPr>
          <p:cNvPr id="16" name="Group 16">
            <a:extLst>
              <a:ext uri="{FF2B5EF4-FFF2-40B4-BE49-F238E27FC236}">
                <a16:creationId xmlns:a16="http://schemas.microsoft.com/office/drawing/2014/main" id="{0C537E61-AEBB-27D5-9334-FAD39968240B}"/>
              </a:ext>
            </a:extLst>
          </p:cNvPr>
          <p:cNvGrpSpPr/>
          <p:nvPr/>
        </p:nvGrpSpPr>
        <p:grpSpPr>
          <a:xfrm>
            <a:off x="8431758" y="5835827"/>
            <a:ext cx="3436392" cy="1742705"/>
            <a:chOff x="0" y="76200"/>
            <a:chExt cx="4581856" cy="2323607"/>
          </a:xfrm>
        </p:grpSpPr>
        <p:sp>
          <p:nvSpPr>
            <p:cNvPr id="17" name="TextBox 17">
              <a:extLst>
                <a:ext uri="{FF2B5EF4-FFF2-40B4-BE49-F238E27FC236}">
                  <a16:creationId xmlns:a16="http://schemas.microsoft.com/office/drawing/2014/main" id="{70EA1177-0FA6-BA37-8CB1-93D8AD6E6DAC}"/>
                </a:ext>
              </a:extLst>
            </p:cNvPr>
            <p:cNvSpPr txBox="1"/>
            <p:nvPr/>
          </p:nvSpPr>
          <p:spPr>
            <a:xfrm>
              <a:off x="0" y="76200"/>
              <a:ext cx="4581856" cy="796885"/>
            </a:xfrm>
            <a:prstGeom prst="rect">
              <a:avLst/>
            </a:prstGeom>
          </p:spPr>
          <p:txBody>
            <a:bodyPr lIns="0" tIns="0" rIns="0" bIns="0" rtlCol="0" anchor="t">
              <a:spAutoFit/>
            </a:bodyPr>
            <a:lstStyle/>
            <a:p>
              <a:pPr marL="0" lvl="0" indent="0" algn="l">
                <a:lnSpc>
                  <a:spcPts val="4500"/>
                </a:lnSpc>
              </a:pPr>
              <a:endParaRPr lang="en-US" sz="4500" spc="-135" dirty="0">
                <a:solidFill>
                  <a:srgbClr val="CCE7FF"/>
                </a:solidFill>
                <a:latin typeface="DM Sans"/>
                <a:ea typeface="DM Sans"/>
                <a:cs typeface="DM Sans"/>
                <a:sym typeface="DM Sans"/>
              </a:endParaRPr>
            </a:p>
          </p:txBody>
        </p:sp>
        <p:sp>
          <p:nvSpPr>
            <p:cNvPr id="18" name="TextBox 18">
              <a:extLst>
                <a:ext uri="{FF2B5EF4-FFF2-40B4-BE49-F238E27FC236}">
                  <a16:creationId xmlns:a16="http://schemas.microsoft.com/office/drawing/2014/main" id="{129506DB-E2D1-4230-1CEC-9A6AED0253E7}"/>
                </a:ext>
              </a:extLst>
            </p:cNvPr>
            <p:cNvSpPr txBox="1"/>
            <p:nvPr/>
          </p:nvSpPr>
          <p:spPr>
            <a:xfrm>
              <a:off x="0" y="1989438"/>
              <a:ext cx="4581856" cy="410369"/>
            </a:xfrm>
            <a:prstGeom prst="rect">
              <a:avLst/>
            </a:prstGeom>
          </p:spPr>
          <p:txBody>
            <a:bodyPr lIns="0" tIns="0" rIns="0" bIns="0" rtlCol="0" anchor="t">
              <a:spAutoFit/>
            </a:bodyPr>
            <a:lstStyle/>
            <a:p>
              <a:pPr marL="0" lvl="0" indent="0" algn="l">
                <a:lnSpc>
                  <a:spcPts val="2400"/>
                </a:lnSpc>
              </a:pPr>
              <a:endParaRPr lang="en-US" sz="2000" u="none" strike="noStrike" dirty="0">
                <a:solidFill>
                  <a:srgbClr val="CCE7FF"/>
                </a:solidFill>
                <a:latin typeface="DM Sans"/>
                <a:ea typeface="DM Sans"/>
                <a:cs typeface="DM Sans"/>
                <a:sym typeface="DM Sans"/>
              </a:endParaRPr>
            </a:p>
          </p:txBody>
        </p:sp>
      </p:grpSp>
      <p:graphicFrame>
        <p:nvGraphicFramePr>
          <p:cNvPr id="9" name="Table 8">
            <a:extLst>
              <a:ext uri="{FF2B5EF4-FFF2-40B4-BE49-F238E27FC236}">
                <a16:creationId xmlns:a16="http://schemas.microsoft.com/office/drawing/2014/main" id="{FAB0AE16-55E1-CB46-E46F-ED82EBE885F2}"/>
              </a:ext>
            </a:extLst>
          </p:cNvPr>
          <p:cNvGraphicFramePr>
            <a:graphicFrameLocks noGrp="1"/>
          </p:cNvGraphicFramePr>
          <p:nvPr>
            <p:extLst>
              <p:ext uri="{D42A27DB-BD31-4B8C-83A1-F6EECF244321}">
                <p14:modId xmlns:p14="http://schemas.microsoft.com/office/powerpoint/2010/main" val="2751446562"/>
              </p:ext>
            </p:extLst>
          </p:nvPr>
        </p:nvGraphicFramePr>
        <p:xfrm>
          <a:off x="9296400" y="3695699"/>
          <a:ext cx="8229600" cy="6223112"/>
        </p:xfrm>
        <a:graphic>
          <a:graphicData uri="http://schemas.openxmlformats.org/drawingml/2006/table">
            <a:tbl>
              <a:tblPr>
                <a:tableStyleId>{5940675A-B579-460E-94D1-54222C63F5DA}</a:tableStyleId>
              </a:tblPr>
              <a:tblGrid>
                <a:gridCol w="4114800">
                  <a:extLst>
                    <a:ext uri="{9D8B030D-6E8A-4147-A177-3AD203B41FA5}">
                      <a16:colId xmlns:a16="http://schemas.microsoft.com/office/drawing/2014/main" val="4119712418"/>
                    </a:ext>
                  </a:extLst>
                </a:gridCol>
                <a:gridCol w="4114800">
                  <a:extLst>
                    <a:ext uri="{9D8B030D-6E8A-4147-A177-3AD203B41FA5}">
                      <a16:colId xmlns:a16="http://schemas.microsoft.com/office/drawing/2014/main" val="4021220789"/>
                    </a:ext>
                  </a:extLst>
                </a:gridCol>
              </a:tblGrid>
              <a:tr h="889016">
                <a:tc>
                  <a:txBody>
                    <a:bodyPr/>
                    <a:lstStyle/>
                    <a:p>
                      <a:pPr>
                        <a:buNone/>
                      </a:pPr>
                      <a:r>
                        <a:rPr lang="en-IN" sz="2400" b="1" dirty="0">
                          <a:solidFill>
                            <a:schemeClr val="bg1">
                              <a:lumMod val="95000"/>
                            </a:schemeClr>
                          </a:solidFill>
                          <a:latin typeface="DM Sans" pitchFamily="2" charset="0"/>
                        </a:rPr>
                        <a:t>Existing Tool</a:t>
                      </a:r>
                    </a:p>
                  </a:txBody>
                  <a:tcPr anchor="ctr"/>
                </a:tc>
                <a:tc>
                  <a:txBody>
                    <a:bodyPr/>
                    <a:lstStyle/>
                    <a:p>
                      <a:pPr>
                        <a:buNone/>
                      </a:pPr>
                      <a:r>
                        <a:rPr lang="en-IN" sz="2400" b="1">
                          <a:solidFill>
                            <a:schemeClr val="bg1">
                              <a:lumMod val="95000"/>
                            </a:schemeClr>
                          </a:solidFill>
                          <a:latin typeface="DM Sans" pitchFamily="2" charset="0"/>
                        </a:rPr>
                        <a:t>Limitation</a:t>
                      </a:r>
                    </a:p>
                  </a:txBody>
                  <a:tcPr anchor="ctr"/>
                </a:tc>
                <a:extLst>
                  <a:ext uri="{0D108BD9-81ED-4DB2-BD59-A6C34878D82A}">
                    <a16:rowId xmlns:a16="http://schemas.microsoft.com/office/drawing/2014/main" val="203804591"/>
                  </a:ext>
                </a:extLst>
              </a:tr>
              <a:tr h="2222540">
                <a:tc>
                  <a:txBody>
                    <a:bodyPr/>
                    <a:lstStyle/>
                    <a:p>
                      <a:pPr>
                        <a:buNone/>
                      </a:pPr>
                      <a:r>
                        <a:rPr lang="en-IN" sz="2400" b="1" dirty="0">
                          <a:solidFill>
                            <a:schemeClr val="bg1">
                              <a:lumMod val="95000"/>
                            </a:schemeClr>
                          </a:solidFill>
                          <a:latin typeface="DM Sans" pitchFamily="2" charset="0"/>
                        </a:rPr>
                        <a:t>Have I Been </a:t>
                      </a:r>
                      <a:r>
                        <a:rPr lang="en-IN" sz="2400" b="1" dirty="0" err="1">
                          <a:solidFill>
                            <a:schemeClr val="bg1">
                              <a:lumMod val="95000"/>
                            </a:schemeClr>
                          </a:solidFill>
                          <a:latin typeface="DM Sans" pitchFamily="2" charset="0"/>
                        </a:rPr>
                        <a:t>Pwned</a:t>
                      </a:r>
                      <a:endParaRPr lang="en-IN" sz="2400" b="1" dirty="0">
                        <a:solidFill>
                          <a:schemeClr val="bg1">
                            <a:lumMod val="95000"/>
                          </a:schemeClr>
                        </a:solidFill>
                        <a:latin typeface="DM Sans" pitchFamily="2" charset="0"/>
                      </a:endParaRPr>
                    </a:p>
                  </a:txBody>
                  <a:tcPr anchor="ctr"/>
                </a:tc>
                <a:tc>
                  <a:txBody>
                    <a:bodyPr/>
                    <a:lstStyle/>
                    <a:p>
                      <a:pPr>
                        <a:buNone/>
                      </a:pPr>
                      <a:r>
                        <a:rPr lang="en-US" sz="2400" b="1" dirty="0">
                          <a:solidFill>
                            <a:schemeClr val="bg1">
                              <a:lumMod val="95000"/>
                            </a:schemeClr>
                          </a:solidFill>
                          <a:latin typeface="DM Sans" pitchFamily="2" charset="0"/>
                        </a:rPr>
                        <a:t>Focuses only on known breach databases and does not analyze publicly scattered identity data</a:t>
                      </a:r>
                    </a:p>
                  </a:txBody>
                  <a:tcPr anchor="ctr"/>
                </a:tc>
                <a:extLst>
                  <a:ext uri="{0D108BD9-81ED-4DB2-BD59-A6C34878D82A}">
                    <a16:rowId xmlns:a16="http://schemas.microsoft.com/office/drawing/2014/main" val="3083006124"/>
                  </a:ext>
                </a:extLst>
              </a:tr>
              <a:tr h="1555778">
                <a:tc>
                  <a:txBody>
                    <a:bodyPr/>
                    <a:lstStyle/>
                    <a:p>
                      <a:pPr>
                        <a:buNone/>
                      </a:pPr>
                      <a:r>
                        <a:rPr lang="en-IN" sz="2400" b="1">
                          <a:solidFill>
                            <a:schemeClr val="bg1">
                              <a:lumMod val="95000"/>
                            </a:schemeClr>
                          </a:solidFill>
                          <a:latin typeface="DM Sans" pitchFamily="2" charset="0"/>
                        </a:rPr>
                        <a:t>OSINT Tools</a:t>
                      </a:r>
                    </a:p>
                  </a:txBody>
                  <a:tcPr anchor="ctr"/>
                </a:tc>
                <a:tc>
                  <a:txBody>
                    <a:bodyPr/>
                    <a:lstStyle/>
                    <a:p>
                      <a:pPr>
                        <a:buNone/>
                      </a:pPr>
                      <a:r>
                        <a:rPr lang="en-US" sz="2400" b="1">
                          <a:solidFill>
                            <a:schemeClr val="bg1">
                              <a:lumMod val="95000"/>
                            </a:schemeClr>
                          </a:solidFill>
                          <a:latin typeface="DM Sans" pitchFamily="2" charset="0"/>
                        </a:rPr>
                        <a:t>Require technical expertise and lack simplified visualization for general users</a:t>
                      </a:r>
                    </a:p>
                  </a:txBody>
                  <a:tcPr anchor="ctr"/>
                </a:tc>
                <a:extLst>
                  <a:ext uri="{0D108BD9-81ED-4DB2-BD59-A6C34878D82A}">
                    <a16:rowId xmlns:a16="http://schemas.microsoft.com/office/drawing/2014/main" val="246545902"/>
                  </a:ext>
                </a:extLst>
              </a:tr>
              <a:tr h="1555778">
                <a:tc>
                  <a:txBody>
                    <a:bodyPr/>
                    <a:lstStyle/>
                    <a:p>
                      <a:pPr>
                        <a:buNone/>
                      </a:pPr>
                      <a:r>
                        <a:rPr lang="en-IN" sz="2400" b="1">
                          <a:solidFill>
                            <a:schemeClr val="bg1">
                              <a:lumMod val="95000"/>
                            </a:schemeClr>
                          </a:solidFill>
                          <a:latin typeface="DM Sans" pitchFamily="2" charset="0"/>
                        </a:rPr>
                        <a:t>Manual Search</a:t>
                      </a:r>
                    </a:p>
                  </a:txBody>
                  <a:tcPr anchor="ctr"/>
                </a:tc>
                <a:tc>
                  <a:txBody>
                    <a:bodyPr/>
                    <a:lstStyle/>
                    <a:p>
                      <a:pPr>
                        <a:buNone/>
                      </a:pPr>
                      <a:r>
                        <a:rPr lang="en-US" sz="2400" b="1" dirty="0">
                          <a:solidFill>
                            <a:schemeClr val="bg1">
                              <a:lumMod val="95000"/>
                            </a:schemeClr>
                          </a:solidFill>
                          <a:latin typeface="DM Sans" pitchFamily="2" charset="0"/>
                        </a:rPr>
                        <a:t>Slow, inconsistent, and unable to correlate data at scale</a:t>
                      </a:r>
                    </a:p>
                  </a:txBody>
                  <a:tcPr anchor="ctr"/>
                </a:tc>
                <a:extLst>
                  <a:ext uri="{0D108BD9-81ED-4DB2-BD59-A6C34878D82A}">
                    <a16:rowId xmlns:a16="http://schemas.microsoft.com/office/drawing/2014/main" val="473041922"/>
                  </a:ext>
                </a:extLst>
              </a:tr>
            </a:tbl>
          </a:graphicData>
        </a:graphic>
      </p:graphicFrame>
    </p:spTree>
    <p:extLst>
      <p:ext uri="{BB962C8B-B14F-4D97-AF65-F5344CB8AC3E}">
        <p14:creationId xmlns:p14="http://schemas.microsoft.com/office/powerpoint/2010/main" val="2092519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466"/>
        </a:solidFill>
        <a:effectLst/>
      </p:bgPr>
    </p:bg>
    <p:spTree>
      <p:nvGrpSpPr>
        <p:cNvPr id="1" name="">
          <a:extLst>
            <a:ext uri="{FF2B5EF4-FFF2-40B4-BE49-F238E27FC236}">
              <a16:creationId xmlns:a16="http://schemas.microsoft.com/office/drawing/2014/main" id="{1D80F929-1118-7120-BAAA-AB7B9357558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04948C-DA47-C65C-84BF-DFBDA3880546}"/>
              </a:ext>
            </a:extLst>
          </p:cNvPr>
          <p:cNvGrpSpPr/>
          <p:nvPr/>
        </p:nvGrpSpPr>
        <p:grpSpPr>
          <a:xfrm>
            <a:off x="-2133600" y="368189"/>
            <a:ext cx="15849600" cy="1651111"/>
            <a:chOff x="0" y="0"/>
            <a:chExt cx="2534132" cy="1165450"/>
          </a:xfrm>
        </p:grpSpPr>
        <p:sp>
          <p:nvSpPr>
            <p:cNvPr id="3" name="Freeform 3">
              <a:extLst>
                <a:ext uri="{FF2B5EF4-FFF2-40B4-BE49-F238E27FC236}">
                  <a16:creationId xmlns:a16="http://schemas.microsoft.com/office/drawing/2014/main" id="{FDA16B46-414F-5BFA-00AF-00CD7CD54BE8}"/>
                </a:ext>
                <a:ext uri="{C183D7F6-B498-43B3-948B-1728B52AA6E4}">
                  <adec:decorative xmlns:adec="http://schemas.microsoft.com/office/drawing/2017/decorative" val="1"/>
                </a:ext>
              </a:extLst>
            </p:cNvPr>
            <p:cNvSpPr/>
            <p:nvPr/>
          </p:nvSpPr>
          <p:spPr>
            <a:xfrm>
              <a:off x="0" y="0"/>
              <a:ext cx="2534132" cy="1165450"/>
            </a:xfrm>
            <a:custGeom>
              <a:avLst/>
              <a:gdLst/>
              <a:ahLst/>
              <a:cxnLst/>
              <a:rect l="l" t="t" r="r" b="b"/>
              <a:pathLst>
                <a:path w="2534132" h="1165450">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002244"/>
            </a:solidFill>
          </p:spPr>
        </p:sp>
        <p:sp>
          <p:nvSpPr>
            <p:cNvPr id="4" name="TextBox 4">
              <a:extLst>
                <a:ext uri="{FF2B5EF4-FFF2-40B4-BE49-F238E27FC236}">
                  <a16:creationId xmlns:a16="http://schemas.microsoft.com/office/drawing/2014/main" id="{0079137A-4AF6-438D-17C3-7EE100FEFAE1}"/>
                </a:ext>
              </a:extLst>
            </p:cNvPr>
            <p:cNvSpPr txBox="1"/>
            <p:nvPr/>
          </p:nvSpPr>
          <p:spPr>
            <a:xfrm>
              <a:off x="0" y="-38100"/>
              <a:ext cx="2534132" cy="12035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AEA11194-2C72-BEA2-9B15-399C27675EB3}"/>
              </a:ext>
            </a:extLst>
          </p:cNvPr>
          <p:cNvSpPr txBox="1"/>
          <p:nvPr/>
        </p:nvSpPr>
        <p:spPr>
          <a:xfrm>
            <a:off x="409290" y="699860"/>
            <a:ext cx="9772294" cy="1158715"/>
          </a:xfrm>
          <a:prstGeom prst="rect">
            <a:avLst/>
          </a:prstGeom>
        </p:spPr>
        <p:txBody>
          <a:bodyPr wrap="square" lIns="0" tIns="0" rIns="0" bIns="0" rtlCol="0" anchor="t">
            <a:spAutoFit/>
          </a:bodyPr>
          <a:lstStyle/>
          <a:p>
            <a:pPr marL="0" lvl="0" indent="0" algn="l">
              <a:lnSpc>
                <a:spcPts val="9000"/>
              </a:lnSpc>
            </a:pPr>
            <a:r>
              <a:rPr lang="en-US" sz="8000" spc="-270" dirty="0">
                <a:solidFill>
                  <a:srgbClr val="0099CC"/>
                </a:solidFill>
                <a:latin typeface="DM Sans"/>
                <a:ea typeface="DM Sans"/>
                <a:cs typeface="DM Sans"/>
                <a:sym typeface="DM Sans"/>
              </a:rPr>
              <a:t>Our Solution</a:t>
            </a:r>
          </a:p>
        </p:txBody>
      </p:sp>
      <p:sp>
        <p:nvSpPr>
          <p:cNvPr id="14" name="TextBox 14">
            <a:extLst>
              <a:ext uri="{FF2B5EF4-FFF2-40B4-BE49-F238E27FC236}">
                <a16:creationId xmlns:a16="http://schemas.microsoft.com/office/drawing/2014/main" id="{C37F9B97-037F-BBCA-11CE-87588B459A00}"/>
              </a:ext>
            </a:extLst>
          </p:cNvPr>
          <p:cNvSpPr txBox="1"/>
          <p:nvPr/>
        </p:nvSpPr>
        <p:spPr>
          <a:xfrm>
            <a:off x="483590" y="2190246"/>
            <a:ext cx="17347209" cy="2554545"/>
          </a:xfrm>
          <a:prstGeom prst="rect">
            <a:avLst/>
          </a:prstGeom>
        </p:spPr>
        <p:txBody>
          <a:bodyPr wrap="square" lIns="0" tIns="0" rIns="0" bIns="0" rtlCol="0" anchor="t">
            <a:spAutoFit/>
          </a:bodyPr>
          <a:lstStyle/>
          <a:p>
            <a:r>
              <a:rPr lang="en-US" sz="2800">
                <a:solidFill>
                  <a:schemeClr val="bg1">
                    <a:lumMod val="95000"/>
                  </a:schemeClr>
                </a:solidFill>
                <a:latin typeface="DM Sans" pitchFamily="2" charset="0"/>
              </a:rPr>
              <a:t>ShadowTrace introduces a structured and automated </a:t>
            </a:r>
            <a:r>
              <a:rPr lang="en-US" sz="2800" b="1">
                <a:solidFill>
                  <a:schemeClr val="bg1">
                    <a:lumMod val="95000"/>
                  </a:schemeClr>
                </a:solidFill>
                <a:latin typeface="DM Sans" pitchFamily="2" charset="0"/>
              </a:rPr>
              <a:t>Collect–Correlate–Comply</a:t>
            </a:r>
            <a:r>
              <a:rPr lang="en-US" sz="2800">
                <a:solidFill>
                  <a:schemeClr val="bg1">
                    <a:lumMod val="95000"/>
                  </a:schemeClr>
                </a:solidFill>
                <a:latin typeface="DM Sans" pitchFamily="2" charset="0"/>
              </a:rPr>
              <a:t> pipeline designed for digital identity auditing.</a:t>
            </a:r>
          </a:p>
          <a:p>
            <a:endParaRPr lang="en-US" sz="2800">
              <a:solidFill>
                <a:schemeClr val="bg1">
                  <a:lumMod val="95000"/>
                </a:schemeClr>
              </a:solidFill>
              <a:latin typeface="DM Sans" pitchFamily="2" charset="0"/>
            </a:endParaRPr>
          </a:p>
          <a:p>
            <a:endParaRPr lang="en-US" sz="2800">
              <a:solidFill>
                <a:schemeClr val="bg1">
                  <a:lumMod val="95000"/>
                </a:schemeClr>
              </a:solidFill>
              <a:latin typeface="DM Sans" pitchFamily="2" charset="0"/>
            </a:endParaRPr>
          </a:p>
          <a:p>
            <a:endParaRPr lang="en-US" sz="2800">
              <a:solidFill>
                <a:schemeClr val="bg1">
                  <a:lumMod val="95000"/>
                </a:schemeClr>
              </a:solidFill>
              <a:latin typeface="DM Sans" pitchFamily="2" charset="0"/>
            </a:endParaRPr>
          </a:p>
          <a:p>
            <a:endParaRPr lang="en-IN" sz="2600" dirty="0">
              <a:solidFill>
                <a:schemeClr val="bg1">
                  <a:lumMod val="95000"/>
                </a:schemeClr>
              </a:solidFill>
              <a:latin typeface="DM Sans" pitchFamily="2" charset="0"/>
            </a:endParaRPr>
          </a:p>
        </p:txBody>
      </p:sp>
      <p:grpSp>
        <p:nvGrpSpPr>
          <p:cNvPr id="16" name="Group 16">
            <a:extLst>
              <a:ext uri="{FF2B5EF4-FFF2-40B4-BE49-F238E27FC236}">
                <a16:creationId xmlns:a16="http://schemas.microsoft.com/office/drawing/2014/main" id="{A22513E6-767D-B731-BCB0-365571665AF2}"/>
              </a:ext>
            </a:extLst>
          </p:cNvPr>
          <p:cNvGrpSpPr/>
          <p:nvPr/>
        </p:nvGrpSpPr>
        <p:grpSpPr>
          <a:xfrm>
            <a:off x="8431758" y="5835827"/>
            <a:ext cx="3436392" cy="1742705"/>
            <a:chOff x="0" y="76200"/>
            <a:chExt cx="4581856" cy="2323607"/>
          </a:xfrm>
        </p:grpSpPr>
        <p:sp>
          <p:nvSpPr>
            <p:cNvPr id="17" name="TextBox 17">
              <a:extLst>
                <a:ext uri="{FF2B5EF4-FFF2-40B4-BE49-F238E27FC236}">
                  <a16:creationId xmlns:a16="http://schemas.microsoft.com/office/drawing/2014/main" id="{08C774A9-9535-C5B3-3BC9-229B6D75D12B}"/>
                </a:ext>
              </a:extLst>
            </p:cNvPr>
            <p:cNvSpPr txBox="1"/>
            <p:nvPr/>
          </p:nvSpPr>
          <p:spPr>
            <a:xfrm>
              <a:off x="0" y="76200"/>
              <a:ext cx="4581856" cy="796885"/>
            </a:xfrm>
            <a:prstGeom prst="rect">
              <a:avLst/>
            </a:prstGeom>
          </p:spPr>
          <p:txBody>
            <a:bodyPr lIns="0" tIns="0" rIns="0" bIns="0" rtlCol="0" anchor="t">
              <a:spAutoFit/>
            </a:bodyPr>
            <a:lstStyle/>
            <a:p>
              <a:pPr marL="0" lvl="0" indent="0" algn="l">
                <a:lnSpc>
                  <a:spcPts val="4500"/>
                </a:lnSpc>
              </a:pPr>
              <a:endParaRPr lang="en-US" sz="4500" spc="-135" dirty="0">
                <a:solidFill>
                  <a:srgbClr val="CCE7FF"/>
                </a:solidFill>
                <a:latin typeface="DM Sans"/>
                <a:ea typeface="DM Sans"/>
                <a:cs typeface="DM Sans"/>
                <a:sym typeface="DM Sans"/>
              </a:endParaRPr>
            </a:p>
          </p:txBody>
        </p:sp>
        <p:sp>
          <p:nvSpPr>
            <p:cNvPr id="18" name="TextBox 18">
              <a:extLst>
                <a:ext uri="{FF2B5EF4-FFF2-40B4-BE49-F238E27FC236}">
                  <a16:creationId xmlns:a16="http://schemas.microsoft.com/office/drawing/2014/main" id="{DA2A7BE1-540A-60ED-C555-90C034B52D56}"/>
                </a:ext>
              </a:extLst>
            </p:cNvPr>
            <p:cNvSpPr txBox="1"/>
            <p:nvPr/>
          </p:nvSpPr>
          <p:spPr>
            <a:xfrm>
              <a:off x="0" y="1989438"/>
              <a:ext cx="4581856" cy="410369"/>
            </a:xfrm>
            <a:prstGeom prst="rect">
              <a:avLst/>
            </a:prstGeom>
          </p:spPr>
          <p:txBody>
            <a:bodyPr lIns="0" tIns="0" rIns="0" bIns="0" rtlCol="0" anchor="t">
              <a:spAutoFit/>
            </a:bodyPr>
            <a:lstStyle/>
            <a:p>
              <a:pPr marL="0" lvl="0" indent="0" algn="l">
                <a:lnSpc>
                  <a:spcPts val="2400"/>
                </a:lnSpc>
              </a:pPr>
              <a:endParaRPr lang="en-US" sz="2000" u="none" strike="noStrike" dirty="0">
                <a:solidFill>
                  <a:srgbClr val="CCE7FF"/>
                </a:solidFill>
                <a:latin typeface="DM Sans"/>
                <a:ea typeface="DM Sans"/>
                <a:cs typeface="DM Sans"/>
                <a:sym typeface="DM Sans"/>
              </a:endParaRPr>
            </a:p>
          </p:txBody>
        </p:sp>
      </p:grpSp>
      <p:sp>
        <p:nvSpPr>
          <p:cNvPr id="7" name="Rectangle: Rounded Corners 6">
            <a:extLst>
              <a:ext uri="{FF2B5EF4-FFF2-40B4-BE49-F238E27FC236}">
                <a16:creationId xmlns:a16="http://schemas.microsoft.com/office/drawing/2014/main" id="{0FDAF2CB-A7F7-1E75-87F8-A51F8987CEE3}"/>
              </a:ext>
            </a:extLst>
          </p:cNvPr>
          <p:cNvSpPr/>
          <p:nvPr/>
        </p:nvSpPr>
        <p:spPr>
          <a:xfrm>
            <a:off x="405853" y="6519327"/>
            <a:ext cx="11365482" cy="35096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600" b="1" dirty="0">
                <a:solidFill>
                  <a:schemeClr val="tx2">
                    <a:lumMod val="50000"/>
                  </a:schemeClr>
                </a:solidFill>
                <a:latin typeface="DM Sans" pitchFamily="2" charset="0"/>
              </a:rPr>
              <a:t>Correlate</a:t>
            </a:r>
          </a:p>
          <a:p>
            <a:r>
              <a:rPr lang="en-US" sz="2600" dirty="0">
                <a:solidFill>
                  <a:schemeClr val="tx2">
                    <a:lumMod val="50000"/>
                  </a:schemeClr>
                </a:solidFill>
                <a:latin typeface="DM Sans" pitchFamily="2" charset="0"/>
              </a:rPr>
              <a:t>An AI-based detection engine identifies sensitive personal identifiers such as emails, usernames, Aadhaar numbers, and PAN numbers. These identifiers are then linked using pattern matching and similarity analysis to construct a unified identity structure.</a:t>
            </a:r>
          </a:p>
        </p:txBody>
      </p:sp>
      <p:sp>
        <p:nvSpPr>
          <p:cNvPr id="8" name="Rectangle: Rounded Corners 7">
            <a:extLst>
              <a:ext uri="{FF2B5EF4-FFF2-40B4-BE49-F238E27FC236}">
                <a16:creationId xmlns:a16="http://schemas.microsoft.com/office/drawing/2014/main" id="{79728AA3-E4A5-FEC6-2832-AD0C9AB2F11C}"/>
              </a:ext>
            </a:extLst>
          </p:cNvPr>
          <p:cNvSpPr/>
          <p:nvPr/>
        </p:nvSpPr>
        <p:spPr>
          <a:xfrm>
            <a:off x="405853" y="3353846"/>
            <a:ext cx="9067800" cy="2979263"/>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1A736C84-3B61-B6AB-2707-F7E11460DD73}"/>
              </a:ext>
            </a:extLst>
          </p:cNvPr>
          <p:cNvSpPr/>
          <p:nvPr/>
        </p:nvSpPr>
        <p:spPr>
          <a:xfrm>
            <a:off x="12142162" y="2967601"/>
            <a:ext cx="11532747" cy="673101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14">
            <a:extLst>
              <a:ext uri="{FF2B5EF4-FFF2-40B4-BE49-F238E27FC236}">
                <a16:creationId xmlns:a16="http://schemas.microsoft.com/office/drawing/2014/main" id="{8638502B-209A-4E0B-BA25-1921AE37CD7F}"/>
              </a:ext>
            </a:extLst>
          </p:cNvPr>
          <p:cNvSpPr txBox="1"/>
          <p:nvPr/>
        </p:nvSpPr>
        <p:spPr>
          <a:xfrm>
            <a:off x="990600" y="3599171"/>
            <a:ext cx="8153400" cy="2585323"/>
          </a:xfrm>
          <a:prstGeom prst="rect">
            <a:avLst/>
          </a:prstGeom>
        </p:spPr>
        <p:txBody>
          <a:bodyPr wrap="square" lIns="0" tIns="0" rIns="0" bIns="0" rtlCol="0" anchor="t">
            <a:spAutoFit/>
          </a:bodyPr>
          <a:lstStyle/>
          <a:p>
            <a:r>
              <a:rPr lang="en-IN" sz="2800" b="1" dirty="0">
                <a:latin typeface="DM Sans" pitchFamily="2" charset="0"/>
              </a:rPr>
              <a:t>Collect</a:t>
            </a:r>
          </a:p>
          <a:p>
            <a:r>
              <a:rPr lang="en-IN" sz="2800" dirty="0">
                <a:latin typeface="DM Sans" pitchFamily="2" charset="0"/>
              </a:rPr>
              <a:t>The system gathers publicly available identity fragments from platforms such as repositories, discussion forums, and breach datasets. An asynchronous backend ensures efficient multi-platform scanning without delays.</a:t>
            </a:r>
          </a:p>
        </p:txBody>
      </p:sp>
      <p:sp>
        <p:nvSpPr>
          <p:cNvPr id="13" name="TextBox 12">
            <a:extLst>
              <a:ext uri="{FF2B5EF4-FFF2-40B4-BE49-F238E27FC236}">
                <a16:creationId xmlns:a16="http://schemas.microsoft.com/office/drawing/2014/main" id="{6B6C84DF-0565-A17C-30AD-ECF85708DE74}"/>
              </a:ext>
            </a:extLst>
          </p:cNvPr>
          <p:cNvSpPr txBox="1"/>
          <p:nvPr/>
        </p:nvSpPr>
        <p:spPr>
          <a:xfrm>
            <a:off x="12725400" y="3608214"/>
            <a:ext cx="4952999" cy="3970318"/>
          </a:xfrm>
          <a:prstGeom prst="rect">
            <a:avLst/>
          </a:prstGeom>
          <a:noFill/>
        </p:spPr>
        <p:txBody>
          <a:bodyPr wrap="square">
            <a:spAutoFit/>
          </a:bodyPr>
          <a:lstStyle/>
          <a:p>
            <a:r>
              <a:rPr lang="en-US" sz="2800" b="1" dirty="0">
                <a:latin typeface="DM Sans" pitchFamily="2" charset="0"/>
              </a:rPr>
              <a:t>Comply</a:t>
            </a:r>
          </a:p>
          <a:p>
            <a:r>
              <a:rPr lang="en-US" sz="2800" dirty="0">
                <a:latin typeface="DM Sans" pitchFamily="2" charset="0"/>
              </a:rPr>
              <a:t>A compliance module evaluates detected exposures against the Digital Personal Data Protection Act (2023). Each finding is assessed based on legal sensitivity and risk implications.</a:t>
            </a:r>
          </a:p>
        </p:txBody>
      </p:sp>
    </p:spTree>
    <p:extLst>
      <p:ext uri="{BB962C8B-B14F-4D97-AF65-F5344CB8AC3E}">
        <p14:creationId xmlns:p14="http://schemas.microsoft.com/office/powerpoint/2010/main" val="176891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466"/>
        </a:solidFill>
        <a:effectLst/>
      </p:bgPr>
    </p:bg>
    <p:spTree>
      <p:nvGrpSpPr>
        <p:cNvPr id="1" name="">
          <a:extLst>
            <a:ext uri="{FF2B5EF4-FFF2-40B4-BE49-F238E27FC236}">
              <a16:creationId xmlns:a16="http://schemas.microsoft.com/office/drawing/2014/main" id="{8E4A82C5-5F71-8549-AC72-3A1133BE75C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2ED152E-B9E5-472F-64A2-0C62B09444DA}"/>
              </a:ext>
            </a:extLst>
          </p:cNvPr>
          <p:cNvGrpSpPr/>
          <p:nvPr/>
        </p:nvGrpSpPr>
        <p:grpSpPr>
          <a:xfrm>
            <a:off x="-2133600" y="368189"/>
            <a:ext cx="15849600" cy="1651111"/>
            <a:chOff x="0" y="0"/>
            <a:chExt cx="2534132" cy="1165450"/>
          </a:xfrm>
        </p:grpSpPr>
        <p:sp>
          <p:nvSpPr>
            <p:cNvPr id="3" name="Freeform 3">
              <a:extLst>
                <a:ext uri="{FF2B5EF4-FFF2-40B4-BE49-F238E27FC236}">
                  <a16:creationId xmlns:a16="http://schemas.microsoft.com/office/drawing/2014/main" id="{4B1ABF79-EE91-03FC-37AF-BF5848A0E051}"/>
                </a:ext>
                <a:ext uri="{C183D7F6-B498-43B3-948B-1728B52AA6E4}">
                  <adec:decorative xmlns:adec="http://schemas.microsoft.com/office/drawing/2017/decorative" val="1"/>
                </a:ext>
              </a:extLst>
            </p:cNvPr>
            <p:cNvSpPr/>
            <p:nvPr/>
          </p:nvSpPr>
          <p:spPr>
            <a:xfrm>
              <a:off x="0" y="0"/>
              <a:ext cx="2534132" cy="1165450"/>
            </a:xfrm>
            <a:custGeom>
              <a:avLst/>
              <a:gdLst/>
              <a:ahLst/>
              <a:cxnLst/>
              <a:rect l="l" t="t" r="r" b="b"/>
              <a:pathLst>
                <a:path w="2534132" h="1165450">
                  <a:moveTo>
                    <a:pt x="14483" y="0"/>
                  </a:moveTo>
                  <a:lnTo>
                    <a:pt x="2519649" y="0"/>
                  </a:lnTo>
                  <a:cubicBezTo>
                    <a:pt x="2523490" y="0"/>
                    <a:pt x="2527174" y="1526"/>
                    <a:pt x="2529890" y="4242"/>
                  </a:cubicBezTo>
                  <a:cubicBezTo>
                    <a:pt x="2532606" y="6958"/>
                    <a:pt x="2534132" y="10642"/>
                    <a:pt x="2534132" y="14483"/>
                  </a:cubicBezTo>
                  <a:lnTo>
                    <a:pt x="2534132" y="1150967"/>
                  </a:lnTo>
                  <a:cubicBezTo>
                    <a:pt x="2534132" y="1158965"/>
                    <a:pt x="2527648" y="1165450"/>
                    <a:pt x="2519649" y="1165450"/>
                  </a:cubicBezTo>
                  <a:lnTo>
                    <a:pt x="14483" y="1165450"/>
                  </a:lnTo>
                  <a:cubicBezTo>
                    <a:pt x="10642" y="1165450"/>
                    <a:pt x="6958" y="1163924"/>
                    <a:pt x="4242" y="1161208"/>
                  </a:cubicBezTo>
                  <a:cubicBezTo>
                    <a:pt x="1526" y="1158492"/>
                    <a:pt x="0" y="1154808"/>
                    <a:pt x="0" y="1150967"/>
                  </a:cubicBezTo>
                  <a:lnTo>
                    <a:pt x="0" y="14483"/>
                  </a:lnTo>
                  <a:cubicBezTo>
                    <a:pt x="0" y="10642"/>
                    <a:pt x="1526" y="6958"/>
                    <a:pt x="4242" y="4242"/>
                  </a:cubicBezTo>
                  <a:cubicBezTo>
                    <a:pt x="6958" y="1526"/>
                    <a:pt x="10642" y="0"/>
                    <a:pt x="14483" y="0"/>
                  </a:cubicBezTo>
                  <a:close/>
                </a:path>
              </a:pathLst>
            </a:custGeom>
            <a:solidFill>
              <a:srgbClr val="002244"/>
            </a:solidFill>
          </p:spPr>
        </p:sp>
        <p:sp>
          <p:nvSpPr>
            <p:cNvPr id="4" name="TextBox 4">
              <a:extLst>
                <a:ext uri="{FF2B5EF4-FFF2-40B4-BE49-F238E27FC236}">
                  <a16:creationId xmlns:a16="http://schemas.microsoft.com/office/drawing/2014/main" id="{192336B9-65C7-6FFC-7A6F-5E13B261F46B}"/>
                </a:ext>
              </a:extLst>
            </p:cNvPr>
            <p:cNvSpPr txBox="1"/>
            <p:nvPr/>
          </p:nvSpPr>
          <p:spPr>
            <a:xfrm>
              <a:off x="0" y="-38100"/>
              <a:ext cx="2534132" cy="1203550"/>
            </a:xfrm>
            <a:prstGeom prst="rect">
              <a:avLst/>
            </a:prstGeom>
          </p:spPr>
          <p:txBody>
            <a:bodyPr lIns="50800" tIns="50800" rIns="50800" bIns="50800" rtlCol="0" anchor="ctr"/>
            <a:lstStyle/>
            <a:p>
              <a:pPr algn="ctr">
                <a:lnSpc>
                  <a:spcPts val="2659"/>
                </a:lnSpc>
              </a:pPr>
              <a:endParaRPr/>
            </a:p>
          </p:txBody>
        </p:sp>
      </p:grpSp>
      <p:sp>
        <p:nvSpPr>
          <p:cNvPr id="12" name="TextBox 12">
            <a:extLst>
              <a:ext uri="{FF2B5EF4-FFF2-40B4-BE49-F238E27FC236}">
                <a16:creationId xmlns:a16="http://schemas.microsoft.com/office/drawing/2014/main" id="{F3E5F591-1A8B-2545-A350-E5CC140F3E31}"/>
              </a:ext>
            </a:extLst>
          </p:cNvPr>
          <p:cNvSpPr txBox="1"/>
          <p:nvPr/>
        </p:nvSpPr>
        <p:spPr>
          <a:xfrm>
            <a:off x="409290" y="662047"/>
            <a:ext cx="14221110" cy="1154162"/>
          </a:xfrm>
          <a:prstGeom prst="rect">
            <a:avLst/>
          </a:prstGeom>
        </p:spPr>
        <p:txBody>
          <a:bodyPr wrap="square" lIns="0" tIns="0" rIns="0" bIns="0" rtlCol="0" anchor="t">
            <a:spAutoFit/>
          </a:bodyPr>
          <a:lstStyle/>
          <a:p>
            <a:pPr lvl="0">
              <a:lnSpc>
                <a:spcPts val="9000"/>
              </a:lnSpc>
            </a:pPr>
            <a:r>
              <a:rPr lang="en-IN" sz="8000" dirty="0">
                <a:solidFill>
                  <a:schemeClr val="bg1">
                    <a:lumMod val="95000"/>
                  </a:schemeClr>
                </a:solidFill>
                <a:latin typeface="DM Sans" pitchFamily="2" charset="0"/>
              </a:rPr>
              <a:t>Innovation &amp; Differentiation</a:t>
            </a:r>
            <a:endParaRPr lang="en-US" sz="8000" spc="-270" dirty="0">
              <a:solidFill>
                <a:schemeClr val="bg1">
                  <a:lumMod val="95000"/>
                </a:schemeClr>
              </a:solidFill>
              <a:latin typeface="DM Sans" pitchFamily="2" charset="0"/>
              <a:ea typeface="DM Sans"/>
              <a:cs typeface="DM Sans"/>
              <a:sym typeface="DM Sans"/>
            </a:endParaRPr>
          </a:p>
        </p:txBody>
      </p:sp>
      <p:sp>
        <p:nvSpPr>
          <p:cNvPr id="14" name="TextBox 14">
            <a:extLst>
              <a:ext uri="{FF2B5EF4-FFF2-40B4-BE49-F238E27FC236}">
                <a16:creationId xmlns:a16="http://schemas.microsoft.com/office/drawing/2014/main" id="{4D42569D-3255-BF0F-CD03-F95F0092A7A4}"/>
              </a:ext>
            </a:extLst>
          </p:cNvPr>
          <p:cNvSpPr txBox="1"/>
          <p:nvPr/>
        </p:nvSpPr>
        <p:spPr>
          <a:xfrm>
            <a:off x="571915" y="2604173"/>
            <a:ext cx="16584328" cy="7325082"/>
          </a:xfrm>
          <a:prstGeom prst="rect">
            <a:avLst/>
          </a:prstGeom>
        </p:spPr>
        <p:txBody>
          <a:bodyPr wrap="square" lIns="0" tIns="0" rIns="0" bIns="0" rtlCol="0" anchor="t">
            <a:spAutoFit/>
          </a:bodyPr>
          <a:lstStyle/>
          <a:p>
            <a:r>
              <a:rPr lang="en-US" sz="2800" dirty="0" err="1">
                <a:solidFill>
                  <a:schemeClr val="bg1">
                    <a:lumMod val="95000"/>
                  </a:schemeClr>
                </a:solidFill>
                <a:latin typeface="DM Sans" pitchFamily="2" charset="0"/>
              </a:rPr>
              <a:t>ShadowTrace</a:t>
            </a:r>
            <a:r>
              <a:rPr lang="en-US" sz="2800" dirty="0">
                <a:solidFill>
                  <a:schemeClr val="bg1">
                    <a:lumMod val="95000"/>
                  </a:schemeClr>
                </a:solidFill>
                <a:latin typeface="DM Sans" pitchFamily="2" charset="0"/>
              </a:rPr>
              <a:t> differentiates itself through the integration of technical intelligence with compliance intelligence.</a:t>
            </a:r>
          </a:p>
          <a:p>
            <a:endParaRPr lang="en-US" sz="2800" dirty="0">
              <a:solidFill>
                <a:schemeClr val="bg1">
                  <a:lumMod val="95000"/>
                </a:schemeClr>
              </a:solidFill>
              <a:latin typeface="DM Sans" pitchFamily="2" charset="0"/>
            </a:endParaRPr>
          </a:p>
          <a:p>
            <a:r>
              <a:rPr lang="en-US" sz="2800" dirty="0">
                <a:solidFill>
                  <a:schemeClr val="bg1">
                    <a:lumMod val="95000"/>
                  </a:schemeClr>
                </a:solidFill>
                <a:latin typeface="DM Sans" pitchFamily="2" charset="0"/>
              </a:rPr>
              <a:t>Key innovative aspects include:</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Automated AI-based identification of sensitive identifiers</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Cross-platform identity clustering using relational mapping techniques</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Graph-based visualization to make complex exposure relationships understandable</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Quantified risk scoring based on sensitivity, frequency, and correlation strength</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Direct mapping of exposure findings to relevant sections of the DPDP Act (2023)</a:t>
            </a:r>
          </a:p>
          <a:p>
            <a:endParaRPr lang="en-US" sz="2800" dirty="0">
              <a:solidFill>
                <a:schemeClr val="bg1">
                  <a:lumMod val="95000"/>
                </a:schemeClr>
              </a:solidFill>
              <a:latin typeface="DM Sans" pitchFamily="2" charset="0"/>
            </a:endParaRPr>
          </a:p>
          <a:p>
            <a:r>
              <a:rPr lang="en-US" sz="2800" dirty="0">
                <a:solidFill>
                  <a:schemeClr val="bg1">
                    <a:lumMod val="95000"/>
                  </a:schemeClr>
                </a:solidFill>
                <a:latin typeface="DM Sans" pitchFamily="2" charset="0"/>
              </a:rPr>
              <a:t>Traditional OSINT platforms primarily focus on data extraction. They present raw results without interpretation or prioritization.</a:t>
            </a:r>
          </a:p>
          <a:p>
            <a:pPr marL="457200" indent="-457200">
              <a:buFont typeface="Arial" panose="020B0604020202020204" pitchFamily="34" charset="0"/>
              <a:buChar char="•"/>
            </a:pPr>
            <a:r>
              <a:rPr lang="en-US" sz="2800" dirty="0" err="1">
                <a:solidFill>
                  <a:schemeClr val="bg1">
                    <a:lumMod val="95000"/>
                  </a:schemeClr>
                </a:solidFill>
                <a:latin typeface="DM Sans" pitchFamily="2" charset="0"/>
              </a:rPr>
              <a:t>ShadowTrace</a:t>
            </a:r>
            <a:r>
              <a:rPr lang="en-US" sz="2800" dirty="0">
                <a:solidFill>
                  <a:schemeClr val="bg1">
                    <a:lumMod val="95000"/>
                  </a:schemeClr>
                </a:solidFill>
                <a:latin typeface="DM Sans" pitchFamily="2" charset="0"/>
              </a:rPr>
              <a:t> goes beyond extraction by:</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Structuring identity fragments into relational networks</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Translating technical findings into measurable risk indicators</a:t>
            </a:r>
          </a:p>
          <a:p>
            <a:pPr marL="457200" indent="-457200">
              <a:buFont typeface="Arial" panose="020B0604020202020204" pitchFamily="34" charset="0"/>
              <a:buChar char="•"/>
            </a:pPr>
            <a:r>
              <a:rPr lang="en-US" sz="2800" dirty="0">
                <a:solidFill>
                  <a:schemeClr val="bg1">
                    <a:lumMod val="95000"/>
                  </a:schemeClr>
                </a:solidFill>
                <a:latin typeface="DM Sans" pitchFamily="2" charset="0"/>
              </a:rPr>
              <a:t>Connecting cybersecurity insights with regulatory accountability</a:t>
            </a:r>
          </a:p>
          <a:p>
            <a:endParaRPr lang="en-US" sz="2800" dirty="0">
              <a:solidFill>
                <a:schemeClr val="bg1">
                  <a:lumMod val="95000"/>
                </a:schemeClr>
              </a:solidFill>
              <a:latin typeface="DM Sans" pitchFamily="2" charset="0"/>
            </a:endParaRPr>
          </a:p>
        </p:txBody>
      </p:sp>
      <p:grpSp>
        <p:nvGrpSpPr>
          <p:cNvPr id="16" name="Group 16">
            <a:extLst>
              <a:ext uri="{FF2B5EF4-FFF2-40B4-BE49-F238E27FC236}">
                <a16:creationId xmlns:a16="http://schemas.microsoft.com/office/drawing/2014/main" id="{AD6606CF-8C92-B3BE-53F0-836398C21CFD}"/>
              </a:ext>
            </a:extLst>
          </p:cNvPr>
          <p:cNvGrpSpPr/>
          <p:nvPr/>
        </p:nvGrpSpPr>
        <p:grpSpPr>
          <a:xfrm>
            <a:off x="8431758" y="5835827"/>
            <a:ext cx="3436392" cy="1742705"/>
            <a:chOff x="0" y="76200"/>
            <a:chExt cx="4581856" cy="2323607"/>
          </a:xfrm>
        </p:grpSpPr>
        <p:sp>
          <p:nvSpPr>
            <p:cNvPr id="17" name="TextBox 17">
              <a:extLst>
                <a:ext uri="{FF2B5EF4-FFF2-40B4-BE49-F238E27FC236}">
                  <a16:creationId xmlns:a16="http://schemas.microsoft.com/office/drawing/2014/main" id="{DD071116-6347-6F77-6D6D-579BDE1F12C4}"/>
                </a:ext>
              </a:extLst>
            </p:cNvPr>
            <p:cNvSpPr txBox="1"/>
            <p:nvPr/>
          </p:nvSpPr>
          <p:spPr>
            <a:xfrm>
              <a:off x="0" y="76200"/>
              <a:ext cx="4581856" cy="796885"/>
            </a:xfrm>
            <a:prstGeom prst="rect">
              <a:avLst/>
            </a:prstGeom>
          </p:spPr>
          <p:txBody>
            <a:bodyPr lIns="0" tIns="0" rIns="0" bIns="0" rtlCol="0" anchor="t">
              <a:spAutoFit/>
            </a:bodyPr>
            <a:lstStyle/>
            <a:p>
              <a:pPr marL="0" lvl="0" indent="0" algn="l">
                <a:lnSpc>
                  <a:spcPts val="4500"/>
                </a:lnSpc>
              </a:pPr>
              <a:endParaRPr lang="en-US" sz="4500" spc="-135" dirty="0">
                <a:solidFill>
                  <a:srgbClr val="CCE7FF"/>
                </a:solidFill>
                <a:latin typeface="DM Sans"/>
                <a:ea typeface="DM Sans"/>
                <a:cs typeface="DM Sans"/>
                <a:sym typeface="DM Sans"/>
              </a:endParaRPr>
            </a:p>
          </p:txBody>
        </p:sp>
        <p:sp>
          <p:nvSpPr>
            <p:cNvPr id="18" name="TextBox 18">
              <a:extLst>
                <a:ext uri="{FF2B5EF4-FFF2-40B4-BE49-F238E27FC236}">
                  <a16:creationId xmlns:a16="http://schemas.microsoft.com/office/drawing/2014/main" id="{6F9E53EA-2071-631E-B208-7F817F0DE83C}"/>
                </a:ext>
              </a:extLst>
            </p:cNvPr>
            <p:cNvSpPr txBox="1"/>
            <p:nvPr/>
          </p:nvSpPr>
          <p:spPr>
            <a:xfrm>
              <a:off x="0" y="1989438"/>
              <a:ext cx="4581856" cy="410369"/>
            </a:xfrm>
            <a:prstGeom prst="rect">
              <a:avLst/>
            </a:prstGeom>
          </p:spPr>
          <p:txBody>
            <a:bodyPr lIns="0" tIns="0" rIns="0" bIns="0" rtlCol="0" anchor="t">
              <a:spAutoFit/>
            </a:bodyPr>
            <a:lstStyle/>
            <a:p>
              <a:pPr marL="0" lvl="0" indent="0" algn="l">
                <a:lnSpc>
                  <a:spcPts val="2400"/>
                </a:lnSpc>
              </a:pPr>
              <a:endParaRPr lang="en-US" sz="2000" u="none" strike="noStrike" dirty="0">
                <a:solidFill>
                  <a:srgbClr val="CCE7FF"/>
                </a:solidFill>
                <a:latin typeface="DM Sans"/>
                <a:ea typeface="DM Sans"/>
                <a:cs typeface="DM Sans"/>
                <a:sym typeface="DM Sans"/>
              </a:endParaRPr>
            </a:p>
          </p:txBody>
        </p:sp>
      </p:grpSp>
    </p:spTree>
    <p:extLst>
      <p:ext uri="{BB962C8B-B14F-4D97-AF65-F5344CB8AC3E}">
        <p14:creationId xmlns:p14="http://schemas.microsoft.com/office/powerpoint/2010/main" val="1012652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930</Words>
  <Application>Microsoft Office PowerPoint</Application>
  <PresentationFormat>Custom</PresentationFormat>
  <Paragraphs>83</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DM Sans</vt:lpstr>
      <vt:lpstr>Calibri</vt:lpstr>
      <vt:lpstr>Courier New</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 dolor sit amet, consectetur adipiscing elit. Praesent rutrum maximus mauris sed sodales. Ut rhoncus lacinia nisi eu tempus. Proin justo eros, mollis laoreet massa non, tincidunt pharetra leo. Cras facilisis leo non nibh congue volutpat. Fusce</dc:title>
  <cp:lastModifiedBy>Venkat Rao</cp:lastModifiedBy>
  <cp:revision>3</cp:revision>
  <dcterms:created xsi:type="dcterms:W3CDTF">2006-08-16T00:00:00Z</dcterms:created>
  <dcterms:modified xsi:type="dcterms:W3CDTF">2026-02-27T21:58:40Z</dcterms:modified>
  <dc:identifier>DAHCgkjh3SE</dc:identifier>
</cp:coreProperties>
</file>